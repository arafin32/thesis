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gjHSRoy9khyV3hGxnLen3WUc1v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9D303F-2B33-4B56-A156-256B2CC7E2F6}">
  <a:tblStyle styleId="{AF9D303F-2B33-4B56-A156-256B2CC7E2F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 name="Shape 15"/>
        <p:cNvGrpSpPr/>
        <p:nvPr/>
      </p:nvGrpSpPr>
      <p:grpSpPr>
        <a:xfrm>
          <a:off x="0" y="0"/>
          <a:ext cx="0" cy="0"/>
          <a:chOff x="0" y="0"/>
          <a:chExt cx="0" cy="0"/>
        </a:xfrm>
      </p:grpSpPr>
      <p:sp>
        <p:nvSpPr>
          <p:cNvPr id="16" name="Google Shape;16;p1"/>
          <p:cNvSpPr/>
          <p:nvPr/>
        </p:nvSpPr>
        <p:spPr>
          <a:xfrm>
            <a:off x="0" y="0"/>
            <a:ext cx="201168" cy="514350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347472"/>
            <a:ext cx="5852160"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D4"/>
              </a:buClr>
              <a:buSzPts val="950"/>
              <a:buFont typeface="Calibri"/>
              <a:buNone/>
            </a:pPr>
            <a:r>
              <a:rPr b="1" i="0" lang="en-US" sz="950" u="none" cap="none" strike="noStrike">
                <a:solidFill>
                  <a:srgbClr val="00C2D4"/>
                </a:solidFill>
                <a:latin typeface="Calibri"/>
                <a:ea typeface="Calibri"/>
                <a:cs typeface="Calibri"/>
                <a:sym typeface="Calibri"/>
              </a:rPr>
              <a:t>UNDERGRADUATE THESIS PROPOSAL</a:t>
            </a:r>
            <a:endParaRPr b="0" i="0" sz="950" u="none" cap="none" strike="noStrike">
              <a:solidFill>
                <a:schemeClr val="dk1"/>
              </a:solidFill>
              <a:latin typeface="Calibri"/>
              <a:ea typeface="Calibri"/>
              <a:cs typeface="Calibri"/>
              <a:sym typeface="Calibri"/>
            </a:endParaRPr>
          </a:p>
        </p:txBody>
      </p:sp>
      <p:sp>
        <p:nvSpPr>
          <p:cNvPr id="18" name="Google Shape;18;p1"/>
          <p:cNvSpPr/>
          <p:nvPr/>
        </p:nvSpPr>
        <p:spPr>
          <a:xfrm>
            <a:off x="457200" y="713232"/>
            <a:ext cx="5760720" cy="228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300"/>
              <a:buFont typeface="Calibri"/>
              <a:buNone/>
            </a:pPr>
            <a:r>
              <a:rPr b="1" i="0" lang="en-US" sz="3300" u="none" cap="none" strike="noStrike">
                <a:solidFill>
                  <a:srgbClr val="FFFFFF"/>
                </a:solidFill>
                <a:latin typeface="Calibri"/>
                <a:ea typeface="Calibri"/>
                <a:cs typeface="Calibri"/>
                <a:sym typeface="Calibri"/>
              </a:rPr>
              <a:t>Explainable Intrusion</a:t>
            </a:r>
            <a:endParaRPr b="0" i="0" sz="3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300"/>
              <a:buFont typeface="Calibri"/>
              <a:buNone/>
            </a:pPr>
            <a:r>
              <a:rPr b="1" i="0" lang="en-US" sz="3300" u="none" cap="none" strike="noStrike">
                <a:solidFill>
                  <a:srgbClr val="FFFFFF"/>
                </a:solidFill>
                <a:latin typeface="Calibri"/>
                <a:ea typeface="Calibri"/>
                <a:cs typeface="Calibri"/>
                <a:sym typeface="Calibri"/>
              </a:rPr>
              <a:t>Detection System</a:t>
            </a:r>
            <a:endParaRPr b="0" i="0" sz="3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300"/>
              <a:buFont typeface="Calibri"/>
              <a:buNone/>
            </a:pPr>
            <a:r>
              <a:rPr b="1" i="0" lang="en-US" sz="3300" u="none" cap="none" strike="noStrike">
                <a:solidFill>
                  <a:srgbClr val="FFFFFF"/>
                </a:solidFill>
                <a:latin typeface="Calibri"/>
                <a:ea typeface="Calibri"/>
                <a:cs typeface="Calibri"/>
                <a:sym typeface="Calibri"/>
              </a:rPr>
              <a:t>Using Machine Learning</a:t>
            </a:r>
            <a:endParaRPr b="0" i="0" sz="3300" u="none" cap="none" strike="noStrike">
              <a:solidFill>
                <a:schemeClr val="dk1"/>
              </a:solidFill>
              <a:latin typeface="Calibri"/>
              <a:ea typeface="Calibri"/>
              <a:cs typeface="Calibri"/>
              <a:sym typeface="Calibri"/>
            </a:endParaRPr>
          </a:p>
        </p:txBody>
      </p:sp>
      <p:sp>
        <p:nvSpPr>
          <p:cNvPr id="19" name="Google Shape;19;p1"/>
          <p:cNvSpPr/>
          <p:nvPr/>
        </p:nvSpPr>
        <p:spPr>
          <a:xfrm>
            <a:off x="457200" y="3063240"/>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D4"/>
              </a:buClr>
              <a:buSzPts val="1600"/>
              <a:buFont typeface="Calibri"/>
              <a:buNone/>
            </a:pPr>
            <a:r>
              <a:rPr b="0" i="1" lang="en-US" sz="1600" u="none" cap="none" strike="noStrike">
                <a:solidFill>
                  <a:srgbClr val="00C2D4"/>
                </a:solidFill>
                <a:latin typeface="Calibri"/>
                <a:ea typeface="Calibri"/>
                <a:cs typeface="Calibri"/>
                <a:sym typeface="Calibri"/>
              </a:rPr>
              <a:t>A SHAP-Based Approach</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6537960" y="548640"/>
            <a:ext cx="2377440" cy="914400"/>
          </a:xfrm>
          <a:prstGeom prst="rect">
            <a:avLst/>
          </a:prstGeom>
          <a:solidFill>
            <a:srgbClr val="132038"/>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6537960" y="594360"/>
            <a:ext cx="23774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Dataset</a:t>
            </a:r>
            <a:endParaRPr b="0" i="0" sz="900" u="none" cap="none" strike="noStrike">
              <a:solidFill>
                <a:schemeClr val="dk1"/>
              </a:solidFill>
              <a:latin typeface="Calibri"/>
              <a:ea typeface="Calibri"/>
              <a:cs typeface="Calibri"/>
              <a:sym typeface="Calibri"/>
            </a:endParaRPr>
          </a:p>
        </p:txBody>
      </p:sp>
      <p:sp>
        <p:nvSpPr>
          <p:cNvPr id="22" name="Google Shape;22;p1"/>
          <p:cNvSpPr/>
          <p:nvPr/>
        </p:nvSpPr>
        <p:spPr>
          <a:xfrm>
            <a:off x="6537960" y="859536"/>
            <a:ext cx="237744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1200"/>
              <a:buFont typeface="Calibri"/>
              <a:buNone/>
            </a:pPr>
            <a:r>
              <a:rPr b="1" i="0" lang="en-US" sz="1200" u="none" cap="none" strike="noStrike">
                <a:solidFill>
                  <a:srgbClr val="00C2D4"/>
                </a:solidFill>
                <a:latin typeface="Calibri"/>
                <a:ea typeface="Calibri"/>
                <a:cs typeface="Calibri"/>
                <a:sym typeface="Calibri"/>
              </a:rPr>
              <a:t>NSL-KDD</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6537960" y="1627632"/>
            <a:ext cx="2377440" cy="914400"/>
          </a:xfrm>
          <a:prstGeom prst="rect">
            <a:avLst/>
          </a:prstGeom>
          <a:solidFill>
            <a:srgbClr val="132038"/>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537960" y="1673352"/>
            <a:ext cx="23774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Models</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6537960" y="1938528"/>
            <a:ext cx="237744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C55E"/>
              </a:buClr>
              <a:buSzPts val="1200"/>
              <a:buFont typeface="Calibri"/>
              <a:buNone/>
            </a:pPr>
            <a:r>
              <a:rPr b="1" i="0" lang="en-US" sz="1200" u="none" cap="none" strike="noStrike">
                <a:solidFill>
                  <a:srgbClr val="22C55E"/>
                </a:solidFill>
                <a:latin typeface="Calibri"/>
                <a:ea typeface="Calibri"/>
                <a:cs typeface="Calibri"/>
                <a:sym typeface="Calibri"/>
              </a:rPr>
              <a:t>DT · RF · XGBoost</a:t>
            </a:r>
            <a:endParaRPr b="0" i="0" sz="1200" u="none" cap="none" strike="noStrike">
              <a:solidFill>
                <a:schemeClr val="dk1"/>
              </a:solidFill>
              <a:latin typeface="Calibri"/>
              <a:ea typeface="Calibri"/>
              <a:cs typeface="Calibri"/>
              <a:sym typeface="Calibri"/>
            </a:endParaRPr>
          </a:p>
        </p:txBody>
      </p:sp>
      <p:sp>
        <p:nvSpPr>
          <p:cNvPr id="26" name="Google Shape;26;p1"/>
          <p:cNvSpPr/>
          <p:nvPr/>
        </p:nvSpPr>
        <p:spPr>
          <a:xfrm>
            <a:off x="6537960" y="2706624"/>
            <a:ext cx="2377440" cy="914400"/>
          </a:xfrm>
          <a:prstGeom prst="rect">
            <a:avLst/>
          </a:prstGeom>
          <a:solidFill>
            <a:srgbClr val="132038"/>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6537960" y="2752344"/>
            <a:ext cx="23774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XAI</a:t>
            </a:r>
            <a:endParaRPr b="0" i="0" sz="900" u="none" cap="none" strike="noStrike">
              <a:solidFill>
                <a:schemeClr val="dk1"/>
              </a:solidFill>
              <a:latin typeface="Calibri"/>
              <a:ea typeface="Calibri"/>
              <a:cs typeface="Calibri"/>
              <a:sym typeface="Calibri"/>
            </a:endParaRPr>
          </a:p>
        </p:txBody>
      </p:sp>
      <p:sp>
        <p:nvSpPr>
          <p:cNvPr id="28" name="Google Shape;28;p1"/>
          <p:cNvSpPr/>
          <p:nvPr/>
        </p:nvSpPr>
        <p:spPr>
          <a:xfrm>
            <a:off x="6537960" y="3017520"/>
            <a:ext cx="237744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1200"/>
              <a:buFont typeface="Calibri"/>
              <a:buNone/>
            </a:pPr>
            <a:r>
              <a:rPr b="1" i="0" lang="en-US" sz="1200" u="none" cap="none" strike="noStrike">
                <a:solidFill>
                  <a:srgbClr val="F59E0B"/>
                </a:solidFill>
                <a:latin typeface="Calibri"/>
                <a:ea typeface="Calibri"/>
                <a:cs typeface="Calibri"/>
                <a:sym typeface="Calibri"/>
              </a:rPr>
              <a:t>SHAP + LIME</a:t>
            </a:r>
            <a:endParaRPr b="0" i="0" sz="1200" u="none" cap="none" strike="noStrike">
              <a:solidFill>
                <a:schemeClr val="dk1"/>
              </a:solidFill>
              <a:latin typeface="Calibri"/>
              <a:ea typeface="Calibri"/>
              <a:cs typeface="Calibri"/>
              <a:sym typeface="Calibri"/>
            </a:endParaRPr>
          </a:p>
        </p:txBody>
      </p:sp>
      <p:sp>
        <p:nvSpPr>
          <p:cNvPr id="29" name="Google Shape;29;p1"/>
          <p:cNvSpPr/>
          <p:nvPr/>
        </p:nvSpPr>
        <p:spPr>
          <a:xfrm>
            <a:off x="6537960" y="3785616"/>
            <a:ext cx="2377440" cy="914400"/>
          </a:xfrm>
          <a:prstGeom prst="rect">
            <a:avLst/>
          </a:prstGeom>
          <a:solidFill>
            <a:srgbClr val="132038"/>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6537960" y="3831336"/>
            <a:ext cx="237744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Papers</a:t>
            </a:r>
            <a:endParaRPr b="0" i="0" sz="900" u="none" cap="none" strike="noStrike">
              <a:solidFill>
                <a:schemeClr val="dk1"/>
              </a:solidFill>
              <a:latin typeface="Calibri"/>
              <a:ea typeface="Calibri"/>
              <a:cs typeface="Calibri"/>
              <a:sym typeface="Calibri"/>
            </a:endParaRPr>
          </a:p>
        </p:txBody>
      </p:sp>
      <p:sp>
        <p:nvSpPr>
          <p:cNvPr id="31" name="Google Shape;31;p1"/>
          <p:cNvSpPr/>
          <p:nvPr/>
        </p:nvSpPr>
        <p:spPr>
          <a:xfrm>
            <a:off x="6537960" y="4096512"/>
            <a:ext cx="237744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1200"/>
              <a:buFont typeface="Calibri"/>
              <a:buNone/>
            </a:pPr>
            <a:r>
              <a:rPr b="1" i="0" lang="en-US" sz="1200" u="none" cap="none" strike="noStrike">
                <a:solidFill>
                  <a:srgbClr val="F97316"/>
                </a:solidFill>
                <a:latin typeface="Calibri"/>
                <a:ea typeface="Calibri"/>
                <a:cs typeface="Calibri"/>
                <a:sym typeface="Calibri"/>
              </a:rPr>
              <a:t>2017 – 2025</a:t>
            </a:r>
            <a:endParaRPr b="0" i="0" sz="1200" u="none" cap="none" strike="noStrike">
              <a:solidFill>
                <a:schemeClr val="dk1"/>
              </a:solidFill>
              <a:latin typeface="Calibri"/>
              <a:ea typeface="Calibri"/>
              <a:cs typeface="Calibri"/>
              <a:sym typeface="Calibri"/>
            </a:endParaRPr>
          </a:p>
        </p:txBody>
      </p:sp>
      <p:sp>
        <p:nvSpPr>
          <p:cNvPr id="32" name="Google Shape;32;p1"/>
          <p:cNvSpPr/>
          <p:nvPr/>
        </p:nvSpPr>
        <p:spPr>
          <a:xfrm>
            <a:off x="0" y="4645152"/>
            <a:ext cx="9144000" cy="498348"/>
          </a:xfrm>
          <a:prstGeom prst="rect">
            <a:avLst/>
          </a:prstGeom>
          <a:solidFill>
            <a:srgbClr val="132038"/>
          </a:solidFill>
          <a:ln cap="flat" cmpd="sng" w="12700">
            <a:solidFill>
              <a:srgbClr val="13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320040" y="4645152"/>
            <a:ext cx="8686800" cy="4983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950"/>
              <a:buFont typeface="Calibri"/>
              <a:buNone/>
            </a:pPr>
            <a:r>
              <a:rPr b="0" i="0" lang="en-US" sz="950" u="none" cap="none" strike="noStrike">
                <a:solidFill>
                  <a:srgbClr val="8FA8B8"/>
                </a:solidFill>
                <a:latin typeface="Calibri"/>
                <a:ea typeface="Calibri"/>
                <a:cs typeface="Calibri"/>
                <a:sym typeface="Calibri"/>
              </a:rPr>
              <a:t>Department of Computer Science &amp; Engineering  |  Undergraduate Thesis Proposal  |  2024–2025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38" name="Shape 38"/>
        <p:cNvGrpSpPr/>
        <p:nvPr/>
      </p:nvGrpSpPr>
      <p:grpSpPr>
        <a:xfrm>
          <a:off x="0" y="0"/>
          <a:ext cx="0" cy="0"/>
          <a:chOff x="0" y="0"/>
          <a:chExt cx="0" cy="0"/>
        </a:xfrm>
      </p:grpSpPr>
      <p:sp>
        <p:nvSpPr>
          <p:cNvPr id="39" name="Google Shape;39;p2"/>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MOTIVATION</a:t>
            </a:r>
            <a:endParaRPr b="0" i="0" sz="850" u="none" cap="none" strike="noStrike">
              <a:solidFill>
                <a:schemeClr val="dk1"/>
              </a:solidFill>
              <a:latin typeface="Calibri"/>
              <a:ea typeface="Calibri"/>
              <a:cs typeface="Calibri"/>
              <a:sym typeface="Calibri"/>
            </a:endParaRPr>
          </a:p>
        </p:txBody>
      </p:sp>
      <p:sp>
        <p:nvSpPr>
          <p:cNvPr id="41" name="Google Shape;41;p2"/>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The Problem: Black-Box IDS Fails in Practice</a:t>
            </a:r>
            <a:endParaRPr b="0" i="0" sz="2500" u="none" cap="none" strike="noStrike">
              <a:solidFill>
                <a:schemeClr val="dk1"/>
              </a:solidFill>
              <a:latin typeface="Calibri"/>
              <a:ea typeface="Calibri"/>
              <a:cs typeface="Calibri"/>
              <a:sym typeface="Calibri"/>
            </a:endParaRPr>
          </a:p>
        </p:txBody>
      </p:sp>
      <p:sp>
        <p:nvSpPr>
          <p:cNvPr id="42" name="Google Shape;42;p2"/>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2 / 14</a:t>
            </a:r>
            <a:endParaRPr b="0" i="0" sz="900" u="none" cap="none" strike="noStrike">
              <a:solidFill>
                <a:schemeClr val="dk1"/>
              </a:solidFill>
              <a:latin typeface="Calibri"/>
              <a:ea typeface="Calibri"/>
              <a:cs typeface="Calibri"/>
              <a:sym typeface="Calibri"/>
            </a:endParaRPr>
          </a:p>
        </p:txBody>
      </p:sp>
      <p:sp>
        <p:nvSpPr>
          <p:cNvPr id="44" name="Google Shape;44;p2"/>
          <p:cNvSpPr/>
          <p:nvPr/>
        </p:nvSpPr>
        <p:spPr>
          <a:xfrm>
            <a:off x="411480" y="1261872"/>
            <a:ext cx="2651760" cy="237744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11480" y="1335024"/>
            <a:ext cx="26517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6" name="Google Shape;46;p2"/>
          <p:cNvSpPr/>
          <p:nvPr/>
        </p:nvSpPr>
        <p:spPr>
          <a:xfrm>
            <a:off x="411480" y="1837944"/>
            <a:ext cx="2651760" cy="283464"/>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84632" y="1837944"/>
            <a:ext cx="2505456" cy="28346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ML-IDS Achieves High Accuracy</a:t>
            </a:r>
            <a:endParaRPr b="0" i="0" sz="1000" u="none" cap="none" strike="noStrike">
              <a:solidFill>
                <a:schemeClr val="dk1"/>
              </a:solidFill>
              <a:latin typeface="Calibri"/>
              <a:ea typeface="Calibri"/>
              <a:cs typeface="Calibri"/>
              <a:sym typeface="Calibri"/>
            </a:endParaRPr>
          </a:p>
        </p:txBody>
      </p:sp>
      <p:sp>
        <p:nvSpPr>
          <p:cNvPr id="48" name="Google Shape;48;p2"/>
          <p:cNvSpPr/>
          <p:nvPr/>
        </p:nvSpPr>
        <p:spPr>
          <a:xfrm>
            <a:off x="502920" y="2157984"/>
            <a:ext cx="2468880" cy="1389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Random Forest, XGBoost, and deep learning models detect attacks with 95–99% accuracy on benchmarks. They are powerful — but they operate as black boxes.</a:t>
            </a:r>
            <a:endParaRPr b="0" i="0" sz="950" u="none" cap="none" strike="noStrike">
              <a:solidFill>
                <a:schemeClr val="dk1"/>
              </a:solidFill>
              <a:latin typeface="Calibri"/>
              <a:ea typeface="Calibri"/>
              <a:cs typeface="Calibri"/>
              <a:sym typeface="Calibri"/>
            </a:endParaRPr>
          </a:p>
        </p:txBody>
      </p:sp>
      <p:sp>
        <p:nvSpPr>
          <p:cNvPr id="49" name="Google Shape;49;p2"/>
          <p:cNvSpPr/>
          <p:nvPr/>
        </p:nvSpPr>
        <p:spPr>
          <a:xfrm>
            <a:off x="3264408" y="1261872"/>
            <a:ext cx="2651760" cy="237744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264408" y="1335024"/>
            <a:ext cx="26517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1" name="Google Shape;51;p2"/>
          <p:cNvSpPr/>
          <p:nvPr/>
        </p:nvSpPr>
        <p:spPr>
          <a:xfrm>
            <a:off x="3264408" y="1837944"/>
            <a:ext cx="2651760" cy="283464"/>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337560" y="1837944"/>
            <a:ext cx="2505456" cy="28346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No Explanation Given to Analysts</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3355848" y="2157984"/>
            <a:ext cx="2468880" cy="1389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When the model flags a connection, the analyst receives only 'Alert: DoS Detected.' There is zero reasoning — no feature, no evidence, no justification for the decision.</a:t>
            </a:r>
            <a:endParaRPr b="0" i="0" sz="950" u="none" cap="none" strike="noStrike">
              <a:solidFill>
                <a:schemeClr val="dk1"/>
              </a:solidFill>
              <a:latin typeface="Calibri"/>
              <a:ea typeface="Calibri"/>
              <a:cs typeface="Calibri"/>
              <a:sym typeface="Calibri"/>
            </a:endParaRPr>
          </a:p>
        </p:txBody>
      </p:sp>
      <p:sp>
        <p:nvSpPr>
          <p:cNvPr id="54" name="Google Shape;54;p2"/>
          <p:cNvSpPr/>
          <p:nvPr/>
        </p:nvSpPr>
        <p:spPr>
          <a:xfrm>
            <a:off x="6117336" y="1261872"/>
            <a:ext cx="2651760" cy="237744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117336" y="1335024"/>
            <a:ext cx="26517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6" name="Google Shape;56;p2"/>
          <p:cNvSpPr/>
          <p:nvPr/>
        </p:nvSpPr>
        <p:spPr>
          <a:xfrm>
            <a:off x="6117336" y="1837944"/>
            <a:ext cx="2651760" cy="283464"/>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190488" y="1837944"/>
            <a:ext cx="2505456" cy="28346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Real SOCs Cannot Trust or Deploy It</a:t>
            </a:r>
            <a:endParaRPr b="0" i="0" sz="1000" u="none" cap="none" strike="noStrike">
              <a:solidFill>
                <a:schemeClr val="dk1"/>
              </a:solidFill>
              <a:latin typeface="Calibri"/>
              <a:ea typeface="Calibri"/>
              <a:cs typeface="Calibri"/>
              <a:sym typeface="Calibri"/>
            </a:endParaRPr>
          </a:p>
        </p:txBody>
      </p:sp>
      <p:sp>
        <p:nvSpPr>
          <p:cNvPr id="58" name="Google Shape;58;p2"/>
          <p:cNvSpPr/>
          <p:nvPr/>
        </p:nvSpPr>
        <p:spPr>
          <a:xfrm>
            <a:off x="6208776" y="2157984"/>
            <a:ext cx="2468880" cy="1389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Without explanation, analysts cannot validate decisions. Arreche et al. (2024) confirm that inconsistent, opaque XAI is the primary barrier to real-world IDS adoption.</a:t>
            </a:r>
            <a:endParaRPr b="0" i="0" sz="950" u="none" cap="none" strike="noStrike">
              <a:solidFill>
                <a:schemeClr val="dk1"/>
              </a:solidFill>
              <a:latin typeface="Calibri"/>
              <a:ea typeface="Calibri"/>
              <a:cs typeface="Calibri"/>
              <a:sym typeface="Calibri"/>
            </a:endParaRPr>
          </a:p>
        </p:txBody>
      </p:sp>
      <p:sp>
        <p:nvSpPr>
          <p:cNvPr id="59" name="Google Shape;59;p2"/>
          <p:cNvSpPr/>
          <p:nvPr/>
        </p:nvSpPr>
        <p:spPr>
          <a:xfrm>
            <a:off x="411480" y="3767328"/>
            <a:ext cx="8339328" cy="1051560"/>
          </a:xfrm>
          <a:prstGeom prst="rect">
            <a:avLst/>
          </a:prstGeom>
          <a:solidFill>
            <a:srgbClr val="0A1628"/>
          </a:solidFill>
          <a:ln cap="flat" cmpd="sng" w="12700">
            <a:solidFill>
              <a:srgbClr val="0A162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11480" y="3767328"/>
            <a:ext cx="164592" cy="105156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58368" y="3813048"/>
            <a:ext cx="10972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D4"/>
              </a:buClr>
              <a:buSzPts val="1200"/>
              <a:buFont typeface="Calibri"/>
              <a:buNone/>
            </a:pPr>
            <a:r>
              <a:rPr b="1" i="0" lang="en-US" sz="1200" u="none" cap="none" strike="noStrike">
                <a:solidFill>
                  <a:srgbClr val="00C2D4"/>
                </a:solidFill>
                <a:latin typeface="Calibri"/>
                <a:ea typeface="Calibri"/>
                <a:cs typeface="Calibri"/>
                <a:sym typeface="Calibri"/>
              </a:rPr>
              <a:t>Solution</a:t>
            </a:r>
            <a:endParaRPr b="0" i="0" sz="1200" u="none" cap="none" strike="noStrike">
              <a:solidFill>
                <a:schemeClr val="dk1"/>
              </a:solidFill>
              <a:latin typeface="Calibri"/>
              <a:ea typeface="Calibri"/>
              <a:cs typeface="Calibri"/>
              <a:sym typeface="Calibri"/>
            </a:endParaRPr>
          </a:p>
        </p:txBody>
      </p:sp>
      <p:sp>
        <p:nvSpPr>
          <p:cNvPr id="62" name="Google Shape;62;p2"/>
          <p:cNvSpPr/>
          <p:nvPr/>
        </p:nvSpPr>
        <p:spPr>
          <a:xfrm>
            <a:off x="658368" y="4087368"/>
            <a:ext cx="7882128"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Combine ML-based IDS with SHAP Explainable AI. Every prediction is explained at the feature level — analysts see exactly which network features caused the alert and how much each contributed. A black-box alarm becomes an actionable, evidence-based finding.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67" name="Shape 67"/>
        <p:cNvGrpSpPr/>
        <p:nvPr/>
      </p:nvGrpSpPr>
      <p:grpSpPr>
        <a:xfrm>
          <a:off x="0" y="0"/>
          <a:ext cx="0" cy="0"/>
          <a:chOff x="0" y="0"/>
          <a:chExt cx="0" cy="0"/>
        </a:xfrm>
      </p:grpSpPr>
      <p:sp>
        <p:nvSpPr>
          <p:cNvPr id="68" name="Google Shape;68;p3"/>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DATASET</a:t>
            </a:r>
            <a:endParaRPr b="0" i="0" sz="850" u="none" cap="none" strike="noStrike">
              <a:solidFill>
                <a:schemeClr val="dk1"/>
              </a:solidFill>
              <a:latin typeface="Calibri"/>
              <a:ea typeface="Calibri"/>
              <a:cs typeface="Calibri"/>
              <a:sym typeface="Calibri"/>
            </a:endParaRPr>
          </a:p>
        </p:txBody>
      </p:sp>
      <p:sp>
        <p:nvSpPr>
          <p:cNvPr id="70" name="Google Shape;70;p3"/>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NSL-KDD: Origin of the Dataset, Features &amp; Classes</a:t>
            </a:r>
            <a:endParaRPr b="0" i="0" sz="2500" u="none" cap="none" strike="noStrike">
              <a:solidFill>
                <a:schemeClr val="dk1"/>
              </a:solidFill>
              <a:latin typeface="Calibri"/>
              <a:ea typeface="Calibri"/>
              <a:cs typeface="Calibri"/>
              <a:sym typeface="Calibri"/>
            </a:endParaRPr>
          </a:p>
        </p:txBody>
      </p:sp>
      <p:sp>
        <p:nvSpPr>
          <p:cNvPr id="71" name="Google Shape;71;p3"/>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3 / 14</a:t>
            </a:r>
            <a:endParaRPr b="0" i="0" sz="900" u="none" cap="none" strike="noStrike">
              <a:solidFill>
                <a:schemeClr val="dk1"/>
              </a:solidFill>
              <a:latin typeface="Calibri"/>
              <a:ea typeface="Calibri"/>
              <a:cs typeface="Calibri"/>
              <a:sym typeface="Calibri"/>
            </a:endParaRPr>
          </a:p>
        </p:txBody>
      </p:sp>
      <p:sp>
        <p:nvSpPr>
          <p:cNvPr id="73" name="Google Shape;73;p3"/>
          <p:cNvSpPr/>
          <p:nvPr/>
        </p:nvSpPr>
        <p:spPr>
          <a:xfrm>
            <a:off x="411480" y="1234440"/>
            <a:ext cx="4005072" cy="365760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411480" y="1234440"/>
            <a:ext cx="4005072" cy="310896"/>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02920" y="1234440"/>
            <a:ext cx="3895344"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How the Dataset Was Built</a:t>
            </a:r>
            <a:endParaRPr b="0" i="0" sz="1050" u="none" cap="none" strike="noStrike">
              <a:solidFill>
                <a:schemeClr val="dk1"/>
              </a:solidFill>
              <a:latin typeface="Calibri"/>
              <a:ea typeface="Calibri"/>
              <a:cs typeface="Calibri"/>
              <a:sym typeface="Calibri"/>
            </a:endParaRPr>
          </a:p>
        </p:txBody>
      </p:sp>
      <p:sp>
        <p:nvSpPr>
          <p:cNvPr id="76" name="Google Shape;76;p3"/>
          <p:cNvSpPr/>
          <p:nvPr/>
        </p:nvSpPr>
        <p:spPr>
          <a:xfrm>
            <a:off x="530352" y="1682496"/>
            <a:ext cx="475488" cy="256032"/>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530352" y="1682496"/>
            <a:ext cx="4754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1998</a:t>
            </a:r>
            <a:endParaRPr b="0" i="0" sz="850" u="none" cap="none" strike="noStrike">
              <a:solidFill>
                <a:schemeClr val="dk1"/>
              </a:solidFill>
              <a:latin typeface="Calibri"/>
              <a:ea typeface="Calibri"/>
              <a:cs typeface="Calibri"/>
              <a:sym typeface="Calibri"/>
            </a:endParaRPr>
          </a:p>
        </p:txBody>
      </p:sp>
      <p:sp>
        <p:nvSpPr>
          <p:cNvPr id="78" name="Google Shape;78;p3"/>
          <p:cNvSpPr/>
          <p:nvPr/>
        </p:nvSpPr>
        <p:spPr>
          <a:xfrm>
            <a:off x="1078992" y="1664208"/>
            <a:ext cx="32004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DARPA simulated a real university network for 7 weeks, capturing every packet of both normal and attack traffic under controlled conditions.</a:t>
            </a:r>
            <a:endParaRPr b="0" i="0" sz="950" u="none" cap="none" strike="noStrike">
              <a:solidFill>
                <a:schemeClr val="dk1"/>
              </a:solidFill>
              <a:latin typeface="Calibri"/>
              <a:ea typeface="Calibri"/>
              <a:cs typeface="Calibri"/>
              <a:sym typeface="Calibri"/>
            </a:endParaRPr>
          </a:p>
        </p:txBody>
      </p:sp>
      <p:sp>
        <p:nvSpPr>
          <p:cNvPr id="79" name="Google Shape;79;p3"/>
          <p:cNvSpPr/>
          <p:nvPr/>
        </p:nvSpPr>
        <p:spPr>
          <a:xfrm>
            <a:off x="530352" y="2386584"/>
            <a:ext cx="475488" cy="256032"/>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530352" y="2386584"/>
            <a:ext cx="4754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1999</a:t>
            </a:r>
            <a:endParaRPr b="0" i="0" sz="850" u="none" cap="none" strike="noStrike">
              <a:solidFill>
                <a:schemeClr val="dk1"/>
              </a:solidFill>
              <a:latin typeface="Calibri"/>
              <a:ea typeface="Calibri"/>
              <a:cs typeface="Calibri"/>
              <a:sym typeface="Calibri"/>
            </a:endParaRPr>
          </a:p>
        </p:txBody>
      </p:sp>
      <p:sp>
        <p:nvSpPr>
          <p:cNvPr id="81" name="Google Shape;81;p3"/>
          <p:cNvSpPr/>
          <p:nvPr/>
        </p:nvSpPr>
        <p:spPr>
          <a:xfrm>
            <a:off x="1078992" y="2368296"/>
            <a:ext cx="32004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MIT Lincoln Lab extracted 41 connection-level features from the raw packets, producing KDD Cup 1999 — the first ML IDS benchmark.</a:t>
            </a:r>
            <a:endParaRPr b="0" i="0" sz="950" u="none" cap="none" strike="noStrike">
              <a:solidFill>
                <a:schemeClr val="dk1"/>
              </a:solidFill>
              <a:latin typeface="Calibri"/>
              <a:ea typeface="Calibri"/>
              <a:cs typeface="Calibri"/>
              <a:sym typeface="Calibri"/>
            </a:endParaRPr>
          </a:p>
        </p:txBody>
      </p:sp>
      <p:sp>
        <p:nvSpPr>
          <p:cNvPr id="82" name="Google Shape;82;p3"/>
          <p:cNvSpPr/>
          <p:nvPr/>
        </p:nvSpPr>
        <p:spPr>
          <a:xfrm>
            <a:off x="530352" y="3090672"/>
            <a:ext cx="475488" cy="256032"/>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530352" y="3090672"/>
            <a:ext cx="4754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2009</a:t>
            </a:r>
            <a:endParaRPr b="0" i="0" sz="850" u="none" cap="none" strike="noStrike">
              <a:solidFill>
                <a:schemeClr val="dk1"/>
              </a:solidFill>
              <a:latin typeface="Calibri"/>
              <a:ea typeface="Calibri"/>
              <a:cs typeface="Calibri"/>
              <a:sym typeface="Calibri"/>
            </a:endParaRPr>
          </a:p>
        </p:txBody>
      </p:sp>
      <p:sp>
        <p:nvSpPr>
          <p:cNvPr id="84" name="Google Shape;84;p3"/>
          <p:cNvSpPr/>
          <p:nvPr/>
        </p:nvSpPr>
        <p:spPr>
          <a:xfrm>
            <a:off x="1078992" y="3072384"/>
            <a:ext cx="32004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Tavallaee et al. discovered KDD99 had 78% duplicate records causing serious bias. They removed duplicates and rebalanced classes → NSL-KDD.</a:t>
            </a:r>
            <a:endParaRPr b="0" i="0" sz="950" u="none" cap="none" strike="noStrike">
              <a:solidFill>
                <a:schemeClr val="dk1"/>
              </a:solidFill>
              <a:latin typeface="Calibri"/>
              <a:ea typeface="Calibri"/>
              <a:cs typeface="Calibri"/>
              <a:sym typeface="Calibri"/>
            </a:endParaRPr>
          </a:p>
        </p:txBody>
      </p:sp>
      <p:sp>
        <p:nvSpPr>
          <p:cNvPr id="85" name="Google Shape;85;p3"/>
          <p:cNvSpPr/>
          <p:nvPr/>
        </p:nvSpPr>
        <p:spPr>
          <a:xfrm>
            <a:off x="530352" y="3794760"/>
            <a:ext cx="475488" cy="256032"/>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530352" y="3794760"/>
            <a:ext cx="47548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Now</a:t>
            </a:r>
            <a:endParaRPr b="0" i="0" sz="850" u="none" cap="none" strike="noStrike">
              <a:solidFill>
                <a:schemeClr val="dk1"/>
              </a:solidFill>
              <a:latin typeface="Calibri"/>
              <a:ea typeface="Calibri"/>
              <a:cs typeface="Calibri"/>
              <a:sym typeface="Calibri"/>
            </a:endParaRPr>
          </a:p>
        </p:txBody>
      </p:sp>
      <p:sp>
        <p:nvSpPr>
          <p:cNvPr id="87" name="Google Shape;87;p3"/>
          <p:cNvSpPr/>
          <p:nvPr/>
        </p:nvSpPr>
        <p:spPr>
          <a:xfrm>
            <a:off x="1078992" y="3776472"/>
            <a:ext cx="32004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NSL-KDD is used in 500+ published papers worldwide. It is the accepted standard for tree-based IDS research due to its documented, interpretable features.</a:t>
            </a:r>
            <a:endParaRPr b="0" i="0" sz="950" u="none" cap="none" strike="noStrike">
              <a:solidFill>
                <a:schemeClr val="dk1"/>
              </a:solidFill>
              <a:latin typeface="Calibri"/>
              <a:ea typeface="Calibri"/>
              <a:cs typeface="Calibri"/>
              <a:sym typeface="Calibri"/>
            </a:endParaRPr>
          </a:p>
        </p:txBody>
      </p:sp>
      <p:sp>
        <p:nvSpPr>
          <p:cNvPr id="88" name="Google Shape;88;p3"/>
          <p:cNvSpPr/>
          <p:nvPr/>
        </p:nvSpPr>
        <p:spPr>
          <a:xfrm>
            <a:off x="4553712" y="1234440"/>
            <a:ext cx="4224528" cy="178308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4553712" y="1234440"/>
            <a:ext cx="4224528" cy="310896"/>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4645152" y="1234440"/>
            <a:ext cx="41148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41 Features — Extracted from Packet Analysis</a:t>
            </a:r>
            <a:endParaRPr b="0" i="0" sz="1050" u="none" cap="none" strike="noStrike">
              <a:solidFill>
                <a:schemeClr val="dk1"/>
              </a:solidFill>
              <a:latin typeface="Calibri"/>
              <a:ea typeface="Calibri"/>
              <a:cs typeface="Calibri"/>
              <a:sym typeface="Calibri"/>
            </a:endParaRPr>
          </a:p>
        </p:txBody>
      </p:sp>
      <p:sp>
        <p:nvSpPr>
          <p:cNvPr id="91" name="Google Shape;91;p3"/>
          <p:cNvSpPr/>
          <p:nvPr/>
        </p:nvSpPr>
        <p:spPr>
          <a:xfrm>
            <a:off x="4663440" y="1664208"/>
            <a:ext cx="91440" cy="27432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4809744" y="1664208"/>
            <a:ext cx="3858768"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Basic (9): duration, protocol_type, service, flag, src_bytes, dst_bytes</a:t>
            </a:r>
            <a:endParaRPr b="0" i="0" sz="950" u="none" cap="none" strike="noStrike">
              <a:solidFill>
                <a:schemeClr val="dk1"/>
              </a:solidFill>
              <a:latin typeface="Calibri"/>
              <a:ea typeface="Calibri"/>
              <a:cs typeface="Calibri"/>
              <a:sym typeface="Calibri"/>
            </a:endParaRPr>
          </a:p>
        </p:txBody>
      </p:sp>
      <p:sp>
        <p:nvSpPr>
          <p:cNvPr id="93" name="Google Shape;93;p3"/>
          <p:cNvSpPr/>
          <p:nvPr/>
        </p:nvSpPr>
        <p:spPr>
          <a:xfrm>
            <a:off x="4663440" y="2057400"/>
            <a:ext cx="91440" cy="27432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4809744" y="2057400"/>
            <a:ext cx="3858768"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Content (13): num_failed_logins, logged_in, root_shell, su_attempted</a:t>
            </a:r>
            <a:endParaRPr b="0" i="0" sz="950" u="none" cap="none" strike="noStrike">
              <a:solidFill>
                <a:schemeClr val="dk1"/>
              </a:solidFill>
              <a:latin typeface="Calibri"/>
              <a:ea typeface="Calibri"/>
              <a:cs typeface="Calibri"/>
              <a:sym typeface="Calibri"/>
            </a:endParaRPr>
          </a:p>
        </p:txBody>
      </p:sp>
      <p:sp>
        <p:nvSpPr>
          <p:cNvPr id="95" name="Google Shape;95;p3"/>
          <p:cNvSpPr/>
          <p:nvPr/>
        </p:nvSpPr>
        <p:spPr>
          <a:xfrm>
            <a:off x="4663440" y="2450592"/>
            <a:ext cx="91440" cy="27432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809744" y="2450592"/>
            <a:ext cx="3858768"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Traffic (19): count, srv_count, serror_rate, dst_host_count</a:t>
            </a:r>
            <a:endParaRPr b="0" i="0" sz="950" u="none" cap="none" strike="noStrike">
              <a:solidFill>
                <a:schemeClr val="dk1"/>
              </a:solidFill>
              <a:latin typeface="Calibri"/>
              <a:ea typeface="Calibri"/>
              <a:cs typeface="Calibri"/>
              <a:sym typeface="Calibri"/>
            </a:endParaRPr>
          </a:p>
        </p:txBody>
      </p:sp>
      <p:sp>
        <p:nvSpPr>
          <p:cNvPr id="97" name="Google Shape;97;p3"/>
          <p:cNvSpPr/>
          <p:nvPr/>
        </p:nvSpPr>
        <p:spPr>
          <a:xfrm>
            <a:off x="4553712" y="3145536"/>
            <a:ext cx="4224528" cy="1746504"/>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4553712" y="3145536"/>
            <a:ext cx="4224528" cy="310896"/>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645152" y="3145536"/>
            <a:ext cx="411480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5 Classes — Labeled by Security Experts from DARPA Traffic</a:t>
            </a:r>
            <a:endParaRPr b="0" i="0" sz="1050" u="none" cap="none" strike="noStrike">
              <a:solidFill>
                <a:schemeClr val="dk1"/>
              </a:solidFill>
              <a:latin typeface="Calibri"/>
              <a:ea typeface="Calibri"/>
              <a:cs typeface="Calibri"/>
              <a:sym typeface="Calibri"/>
            </a:endParaRPr>
          </a:p>
        </p:txBody>
      </p:sp>
      <p:sp>
        <p:nvSpPr>
          <p:cNvPr id="100" name="Google Shape;100;p3"/>
          <p:cNvSpPr/>
          <p:nvPr/>
        </p:nvSpPr>
        <p:spPr>
          <a:xfrm>
            <a:off x="4663440" y="3566160"/>
            <a:ext cx="640080" cy="201168"/>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4663440" y="3566160"/>
            <a:ext cx="6400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Normal</a:t>
            </a:r>
            <a:endParaRPr b="0" i="0" sz="850" u="none" cap="none" strike="noStrike">
              <a:solidFill>
                <a:schemeClr val="dk1"/>
              </a:solidFill>
              <a:latin typeface="Calibri"/>
              <a:ea typeface="Calibri"/>
              <a:cs typeface="Calibri"/>
              <a:sym typeface="Calibri"/>
            </a:endParaRPr>
          </a:p>
        </p:txBody>
      </p:sp>
      <p:sp>
        <p:nvSpPr>
          <p:cNvPr id="102" name="Google Shape;102;p3"/>
          <p:cNvSpPr/>
          <p:nvPr/>
        </p:nvSpPr>
        <p:spPr>
          <a:xfrm>
            <a:off x="5358384" y="3566160"/>
            <a:ext cx="3291840" cy="2103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Legitimate traffic — model's baseline reference</a:t>
            </a:r>
            <a:endParaRPr b="0" i="0" sz="950" u="none" cap="none" strike="noStrike">
              <a:solidFill>
                <a:schemeClr val="dk1"/>
              </a:solidFill>
              <a:latin typeface="Calibri"/>
              <a:ea typeface="Calibri"/>
              <a:cs typeface="Calibri"/>
              <a:sym typeface="Calibri"/>
            </a:endParaRPr>
          </a:p>
        </p:txBody>
      </p:sp>
      <p:sp>
        <p:nvSpPr>
          <p:cNvPr id="103" name="Google Shape;103;p3"/>
          <p:cNvSpPr/>
          <p:nvPr/>
        </p:nvSpPr>
        <p:spPr>
          <a:xfrm>
            <a:off x="4663440" y="3813048"/>
            <a:ext cx="640080" cy="20116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4663440" y="3813048"/>
            <a:ext cx="6400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DoS</a:t>
            </a:r>
            <a:endParaRPr b="0" i="0" sz="850" u="none" cap="none" strike="noStrike">
              <a:solidFill>
                <a:schemeClr val="dk1"/>
              </a:solidFill>
              <a:latin typeface="Calibri"/>
              <a:ea typeface="Calibri"/>
              <a:cs typeface="Calibri"/>
              <a:sym typeface="Calibri"/>
            </a:endParaRPr>
          </a:p>
        </p:txBody>
      </p:sp>
      <p:sp>
        <p:nvSpPr>
          <p:cNvPr id="105" name="Google Shape;105;p3"/>
          <p:cNvSpPr/>
          <p:nvPr/>
        </p:nvSpPr>
        <p:spPr>
          <a:xfrm>
            <a:off x="5358384" y="3813048"/>
            <a:ext cx="3291840" cy="2103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Flooding: neptune, smurf, back, teardrop</a:t>
            </a:r>
            <a:endParaRPr b="0" i="0" sz="950" u="none" cap="none" strike="noStrike">
              <a:solidFill>
                <a:schemeClr val="dk1"/>
              </a:solidFill>
              <a:latin typeface="Calibri"/>
              <a:ea typeface="Calibri"/>
              <a:cs typeface="Calibri"/>
              <a:sym typeface="Calibri"/>
            </a:endParaRPr>
          </a:p>
        </p:txBody>
      </p:sp>
      <p:sp>
        <p:nvSpPr>
          <p:cNvPr id="106" name="Google Shape;106;p3"/>
          <p:cNvSpPr/>
          <p:nvPr/>
        </p:nvSpPr>
        <p:spPr>
          <a:xfrm>
            <a:off x="4663440" y="4059936"/>
            <a:ext cx="640080" cy="20116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4663440" y="4059936"/>
            <a:ext cx="6400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Probe</a:t>
            </a:r>
            <a:endParaRPr b="0" i="0" sz="850" u="none" cap="none" strike="noStrike">
              <a:solidFill>
                <a:schemeClr val="dk1"/>
              </a:solidFill>
              <a:latin typeface="Calibri"/>
              <a:ea typeface="Calibri"/>
              <a:cs typeface="Calibri"/>
              <a:sym typeface="Calibri"/>
            </a:endParaRPr>
          </a:p>
        </p:txBody>
      </p:sp>
      <p:sp>
        <p:nvSpPr>
          <p:cNvPr id="108" name="Google Shape;108;p3"/>
          <p:cNvSpPr/>
          <p:nvPr/>
        </p:nvSpPr>
        <p:spPr>
          <a:xfrm>
            <a:off x="5358384" y="4059936"/>
            <a:ext cx="3291840" cy="2103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Scanning: ipsweep, nmap, portsweep, satan</a:t>
            </a:r>
            <a:endParaRPr b="0" i="0" sz="950" u="none" cap="none" strike="noStrike">
              <a:solidFill>
                <a:schemeClr val="dk1"/>
              </a:solidFill>
              <a:latin typeface="Calibri"/>
              <a:ea typeface="Calibri"/>
              <a:cs typeface="Calibri"/>
              <a:sym typeface="Calibri"/>
            </a:endParaRPr>
          </a:p>
        </p:txBody>
      </p:sp>
      <p:sp>
        <p:nvSpPr>
          <p:cNvPr id="109" name="Google Shape;109;p3"/>
          <p:cNvSpPr/>
          <p:nvPr/>
        </p:nvSpPr>
        <p:spPr>
          <a:xfrm>
            <a:off x="4663440" y="4306824"/>
            <a:ext cx="640080" cy="201168"/>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4663440" y="4306824"/>
            <a:ext cx="6400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R2L</a:t>
            </a:r>
            <a:endParaRPr b="0" i="0" sz="850" u="none" cap="none" strike="noStrike">
              <a:solidFill>
                <a:schemeClr val="dk1"/>
              </a:solidFill>
              <a:latin typeface="Calibri"/>
              <a:ea typeface="Calibri"/>
              <a:cs typeface="Calibri"/>
              <a:sym typeface="Calibri"/>
            </a:endParaRPr>
          </a:p>
        </p:txBody>
      </p:sp>
      <p:sp>
        <p:nvSpPr>
          <p:cNvPr id="111" name="Google Shape;111;p3"/>
          <p:cNvSpPr/>
          <p:nvPr/>
        </p:nvSpPr>
        <p:spPr>
          <a:xfrm>
            <a:off x="5358384" y="4306824"/>
            <a:ext cx="3291840" cy="2103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Remote login abuse: guess_passwd, warezclient</a:t>
            </a:r>
            <a:endParaRPr b="0" i="0" sz="950" u="none" cap="none" strike="noStrike">
              <a:solidFill>
                <a:schemeClr val="dk1"/>
              </a:solidFill>
              <a:latin typeface="Calibri"/>
              <a:ea typeface="Calibri"/>
              <a:cs typeface="Calibri"/>
              <a:sym typeface="Calibri"/>
            </a:endParaRPr>
          </a:p>
        </p:txBody>
      </p:sp>
      <p:sp>
        <p:nvSpPr>
          <p:cNvPr id="112" name="Google Shape;112;p3"/>
          <p:cNvSpPr/>
          <p:nvPr/>
        </p:nvSpPr>
        <p:spPr>
          <a:xfrm>
            <a:off x="4663440" y="4553712"/>
            <a:ext cx="640080" cy="201168"/>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4663440" y="4553712"/>
            <a:ext cx="6400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U2R</a:t>
            </a:r>
            <a:endParaRPr b="0" i="0" sz="850" u="none" cap="none" strike="noStrike">
              <a:solidFill>
                <a:schemeClr val="dk1"/>
              </a:solidFill>
              <a:latin typeface="Calibri"/>
              <a:ea typeface="Calibri"/>
              <a:cs typeface="Calibri"/>
              <a:sym typeface="Calibri"/>
            </a:endParaRPr>
          </a:p>
        </p:txBody>
      </p:sp>
      <p:sp>
        <p:nvSpPr>
          <p:cNvPr id="114" name="Google Shape;114;p3"/>
          <p:cNvSpPr/>
          <p:nvPr/>
        </p:nvSpPr>
        <p:spPr>
          <a:xfrm>
            <a:off x="5358384" y="4553712"/>
            <a:ext cx="3291840" cy="2103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Privilege escalation: buffer_overflow, rootkit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119" name="Shape 119"/>
        <p:cNvGrpSpPr/>
        <p:nvPr/>
      </p:nvGrpSpPr>
      <p:grpSpPr>
        <a:xfrm>
          <a:off x="0" y="0"/>
          <a:ext cx="0" cy="0"/>
          <a:chOff x="0" y="0"/>
          <a:chExt cx="0" cy="0"/>
        </a:xfrm>
      </p:grpSpPr>
      <p:sp>
        <p:nvSpPr>
          <p:cNvPr id="120" name="Google Shape;120;p4"/>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DATASET</a:t>
            </a:r>
            <a:endParaRPr b="0" i="0" sz="850" u="none" cap="none" strike="noStrike">
              <a:solidFill>
                <a:schemeClr val="dk1"/>
              </a:solidFill>
              <a:latin typeface="Calibri"/>
              <a:ea typeface="Calibri"/>
              <a:cs typeface="Calibri"/>
              <a:sym typeface="Calibri"/>
            </a:endParaRPr>
          </a:p>
        </p:txBody>
      </p:sp>
      <p:sp>
        <p:nvSpPr>
          <p:cNvPr id="122" name="Google Shape;122;p4"/>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How Features Distinguish Each Attack Class</a:t>
            </a:r>
            <a:endParaRPr b="0" i="0" sz="2500" u="none" cap="none" strike="noStrike">
              <a:solidFill>
                <a:schemeClr val="dk1"/>
              </a:solidFill>
              <a:latin typeface="Calibri"/>
              <a:ea typeface="Calibri"/>
              <a:cs typeface="Calibri"/>
              <a:sym typeface="Calibri"/>
            </a:endParaRPr>
          </a:p>
        </p:txBody>
      </p:sp>
      <p:sp>
        <p:nvSpPr>
          <p:cNvPr id="123" name="Google Shape;123;p4"/>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4 / 14</a:t>
            </a:r>
            <a:endParaRPr b="0" i="0" sz="900" u="none" cap="none" strike="noStrike">
              <a:solidFill>
                <a:schemeClr val="dk1"/>
              </a:solidFill>
              <a:latin typeface="Calibri"/>
              <a:ea typeface="Calibri"/>
              <a:cs typeface="Calibri"/>
              <a:sym typeface="Calibri"/>
            </a:endParaRPr>
          </a:p>
        </p:txBody>
      </p:sp>
      <p:graphicFrame>
        <p:nvGraphicFramePr>
          <p:cNvPr id="125" name="Google Shape;125;p4"/>
          <p:cNvGraphicFramePr/>
          <p:nvPr/>
        </p:nvGraphicFramePr>
        <p:xfrm>
          <a:off x="411480" y="1261872"/>
          <a:ext cx="3000000" cy="3000000"/>
        </p:xfrm>
        <a:graphic>
          <a:graphicData uri="http://schemas.openxmlformats.org/drawingml/2006/table">
            <a:tbl>
              <a:tblPr>
                <a:noFill/>
                <a:tableStyleId>{AF9D303F-2B33-4B56-A156-256B2CC7E2F6}</a:tableStyleId>
              </a:tblPr>
              <a:tblGrid>
                <a:gridCol w="1115575"/>
                <a:gridCol w="2944375"/>
                <a:gridCol w="4279400"/>
              </a:tblGrid>
              <a:tr h="4023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Attack Class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Key Distinguishing Features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Domain Explanation</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r>
              <a:tr h="402325">
                <a:tc>
                  <a:txBody>
                    <a:bodyPr/>
                    <a:lstStyle/>
                    <a:p>
                      <a:pPr indent="0" lvl="0" marL="0" marR="0" rtl="0" algn="l">
                        <a:spcBef>
                          <a:spcPts val="0"/>
                        </a:spcBef>
                        <a:spcAft>
                          <a:spcPts val="0"/>
                        </a:spcAft>
                        <a:buClr>
                          <a:srgbClr val="EF4444"/>
                        </a:buClr>
                        <a:buSzPts val="1000"/>
                        <a:buFont typeface="Calibri"/>
                        <a:buNone/>
                      </a:pPr>
                      <a:r>
                        <a:rPr b="1" lang="en-US" sz="1000" u="none" cap="none" strike="noStrike">
                          <a:solidFill>
                            <a:srgbClr val="EF4444"/>
                          </a:solidFill>
                          <a:latin typeface="Calibri"/>
                          <a:ea typeface="Calibri"/>
                          <a:cs typeface="Calibri"/>
                          <a:sym typeface="Calibri"/>
                        </a:rPr>
                        <a:t>DoS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src_bytes, count, serror_rate, dst_host_count</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Flooding → massive byte volume + connection count + SYN error rate spike simultaneously</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F59E0B"/>
                        </a:buClr>
                        <a:buSzPts val="1000"/>
                        <a:buFont typeface="Calibri"/>
                        <a:buNone/>
                      </a:pPr>
                      <a:r>
                        <a:rPr b="1" lang="en-US" sz="1000" u="none" cap="none" strike="noStrike">
                          <a:solidFill>
                            <a:srgbClr val="F59E0B"/>
                          </a:solidFill>
                          <a:latin typeface="Calibri"/>
                          <a:ea typeface="Calibri"/>
                          <a:cs typeface="Calibri"/>
                          <a:sym typeface="Calibri"/>
                        </a:rPr>
                        <a:t>Probe</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dst_host_srv_count, diff_srv_rate, srv_diff_host_rate</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Port scanning → attacker hits many services and hosts → service diversity metrics spike</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F97316"/>
                        </a:buClr>
                        <a:buSzPts val="1000"/>
                        <a:buFont typeface="Calibri"/>
                        <a:buNone/>
                      </a:pPr>
                      <a:r>
                        <a:rPr b="1" lang="en-US" sz="1000" u="none" cap="none" strike="noStrike">
                          <a:solidFill>
                            <a:srgbClr val="F97316"/>
                          </a:solidFill>
                          <a:latin typeface="Calibri"/>
                          <a:ea typeface="Calibri"/>
                          <a:cs typeface="Calibri"/>
                          <a:sym typeface="Calibri"/>
                        </a:rPr>
                        <a:t>R2L</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num_failed_logins, logged_in, is_guest_login, duration</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Brute-force login → failure count rises, guest login attempts increase, odd session duration</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A855F7"/>
                        </a:buClr>
                        <a:buSzPts val="1000"/>
                        <a:buFont typeface="Calibri"/>
                        <a:buNone/>
                      </a:pPr>
                      <a:r>
                        <a:rPr b="1" lang="en-US" sz="1000" u="none" cap="none" strike="noStrike">
                          <a:solidFill>
                            <a:srgbClr val="A855F7"/>
                          </a:solidFill>
                          <a:latin typeface="Calibri"/>
                          <a:ea typeface="Calibri"/>
                          <a:cs typeface="Calibri"/>
                          <a:sym typeface="Calibri"/>
                        </a:rPr>
                        <a:t>U2R</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root_shell, su_attempted, num_root, num_shells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Privilege escalation → shell access flags trigger, root-level actions appear in the session</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22C55E"/>
                        </a:buClr>
                        <a:buSzPts val="1000"/>
                        <a:buFont typeface="Calibri"/>
                        <a:buNone/>
                      </a:pPr>
                      <a:r>
                        <a:rPr b="1" lang="en-US" sz="1000" u="none" cap="none" strike="noStrike">
                          <a:solidFill>
                            <a:srgbClr val="22C55E"/>
                          </a:solidFill>
                          <a:latin typeface="Calibri"/>
                          <a:ea typeface="Calibri"/>
                          <a:cs typeface="Calibri"/>
                          <a:sym typeface="Calibri"/>
                        </a:rPr>
                        <a:t>Normal</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All features within expected statistical ranges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No anomalous spikes in any category — clean baseline established from legitimate traffic</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bl>
          </a:graphicData>
        </a:graphic>
      </p:graphicFrame>
      <p:sp>
        <p:nvSpPr>
          <p:cNvPr id="126" name="Google Shape;126;p4"/>
          <p:cNvSpPr/>
          <p:nvPr/>
        </p:nvSpPr>
        <p:spPr>
          <a:xfrm>
            <a:off x="411480" y="3904488"/>
            <a:ext cx="8339328" cy="914400"/>
          </a:xfrm>
          <a:prstGeom prst="rect">
            <a:avLst/>
          </a:prstGeom>
          <a:solidFill>
            <a:srgbClr val="0A1628"/>
          </a:solidFill>
          <a:ln cap="flat" cmpd="sng" w="12700">
            <a:solidFill>
              <a:srgbClr val="0A162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11480" y="3904488"/>
            <a:ext cx="164592" cy="91440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658368" y="3950208"/>
            <a:ext cx="3657600"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C55E"/>
              </a:buClr>
              <a:buSzPts val="1100"/>
              <a:buFont typeface="Calibri"/>
              <a:buNone/>
            </a:pPr>
            <a:r>
              <a:rPr b="1" i="0" lang="en-US" sz="1100" u="none" cap="none" strike="noStrike">
                <a:solidFill>
                  <a:srgbClr val="22C55E"/>
                </a:solidFill>
                <a:latin typeface="Calibri"/>
                <a:ea typeface="Calibri"/>
                <a:cs typeface="Calibri"/>
                <a:sym typeface="Calibri"/>
              </a:rPr>
              <a:t>Why Multi-Class Detection Matters</a:t>
            </a:r>
            <a:endParaRPr b="0" i="0" sz="1100" u="none" cap="none" strike="noStrike">
              <a:solidFill>
                <a:schemeClr val="dk1"/>
              </a:solidFill>
              <a:latin typeface="Calibri"/>
              <a:ea typeface="Calibri"/>
              <a:cs typeface="Calibri"/>
              <a:sym typeface="Calibri"/>
            </a:endParaRPr>
          </a:p>
        </p:txBody>
      </p:sp>
      <p:sp>
        <p:nvSpPr>
          <p:cNvPr id="129" name="Google Shape;129;p4"/>
          <p:cNvSpPr/>
          <p:nvPr/>
        </p:nvSpPr>
        <p:spPr>
          <a:xfrm>
            <a:off x="658368" y="4215384"/>
            <a:ext cx="7882128"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Binary detection — attack or not — is insufficient in practice. DoS demands bandwidth mitigation. U2R requires immediate account lockdown and forensic investigation. R2L needs authentication hardening. Knowing the attack TYPE determines the correct response. Classes also make per-class SHAP analysis possible, revealing which features drive each specific threat.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134" name="Shape 134"/>
        <p:cNvGrpSpPr/>
        <p:nvPr/>
      </p:nvGrpSpPr>
      <p:grpSpPr>
        <a:xfrm>
          <a:off x="0" y="0"/>
          <a:ext cx="0" cy="0"/>
          <a:chOff x="0" y="0"/>
          <a:chExt cx="0" cy="0"/>
        </a:xfrm>
      </p:grpSpPr>
      <p:sp>
        <p:nvSpPr>
          <p:cNvPr id="135" name="Google Shape;135;p5"/>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LITERATURE 2017–2025</a:t>
            </a:r>
            <a:endParaRPr b="0" i="0" sz="850" u="none" cap="none" strike="noStrike">
              <a:solidFill>
                <a:schemeClr val="dk1"/>
              </a:solidFill>
              <a:latin typeface="Calibri"/>
              <a:ea typeface="Calibri"/>
              <a:cs typeface="Calibri"/>
              <a:sym typeface="Calibri"/>
            </a:endParaRPr>
          </a:p>
        </p:txBody>
      </p:sp>
      <p:sp>
        <p:nvSpPr>
          <p:cNvPr id="137" name="Google Shape;137;p5"/>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Related Work: What Has Been Done &amp; What Remains Open</a:t>
            </a:r>
            <a:endParaRPr b="0" i="0" sz="2500" u="none" cap="none" strike="noStrike">
              <a:solidFill>
                <a:schemeClr val="dk1"/>
              </a:solidFill>
              <a:latin typeface="Calibri"/>
              <a:ea typeface="Calibri"/>
              <a:cs typeface="Calibri"/>
              <a:sym typeface="Calibri"/>
            </a:endParaRPr>
          </a:p>
        </p:txBody>
      </p:sp>
      <p:sp>
        <p:nvSpPr>
          <p:cNvPr id="138" name="Google Shape;138;p5"/>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5 / 14</a:t>
            </a:r>
            <a:endParaRPr b="0" i="0" sz="900" u="none" cap="none" strike="noStrike">
              <a:solidFill>
                <a:schemeClr val="dk1"/>
              </a:solidFill>
              <a:latin typeface="Calibri"/>
              <a:ea typeface="Calibri"/>
              <a:cs typeface="Calibri"/>
              <a:sym typeface="Calibri"/>
            </a:endParaRPr>
          </a:p>
        </p:txBody>
      </p:sp>
      <p:sp>
        <p:nvSpPr>
          <p:cNvPr id="140" name="Google Shape;140;p5"/>
          <p:cNvSpPr/>
          <p:nvPr/>
        </p:nvSpPr>
        <p:spPr>
          <a:xfrm>
            <a:off x="411480" y="1261872"/>
            <a:ext cx="4041648" cy="1719072"/>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411480" y="1261872"/>
            <a:ext cx="402336" cy="1719072"/>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11480" y="1261872"/>
            <a:ext cx="402336" cy="17190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400"/>
              <a:buFont typeface="Calibri"/>
              <a:buNone/>
            </a:pPr>
            <a:r>
              <a:rPr b="1" i="0" lang="en-US" sz="1400" u="none" cap="none" strike="noStrike">
                <a:solidFill>
                  <a:srgbClr val="0A1628"/>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143" name="Google Shape;143;p5"/>
          <p:cNvSpPr/>
          <p:nvPr/>
        </p:nvSpPr>
        <p:spPr>
          <a:xfrm>
            <a:off x="905256" y="1325880"/>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Tavallaee et al. (2009) · IEEE CISDA</a:t>
            </a:r>
            <a:endParaRPr b="0" i="0" sz="950" u="none" cap="none" strike="noStrike">
              <a:solidFill>
                <a:schemeClr val="dk1"/>
              </a:solidFill>
              <a:latin typeface="Calibri"/>
              <a:ea typeface="Calibri"/>
              <a:cs typeface="Calibri"/>
              <a:sym typeface="Calibri"/>
            </a:endParaRPr>
          </a:p>
        </p:txBody>
      </p:sp>
      <p:sp>
        <p:nvSpPr>
          <p:cNvPr id="144" name="Google Shape;144;p5"/>
          <p:cNvSpPr/>
          <p:nvPr/>
        </p:nvSpPr>
        <p:spPr>
          <a:xfrm>
            <a:off x="905256" y="1572768"/>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850"/>
              <a:buFont typeface="Calibri"/>
              <a:buNone/>
            </a:pPr>
            <a:r>
              <a:rPr b="0" i="1" lang="en-US" sz="850" u="none" cap="none" strike="noStrike">
                <a:solidFill>
                  <a:srgbClr val="8FA8B8"/>
                </a:solidFill>
                <a:latin typeface="Calibri"/>
                <a:ea typeface="Calibri"/>
                <a:cs typeface="Calibri"/>
                <a:sym typeface="Calibri"/>
              </a:rPr>
              <a:t>"A Detailed Analysis of the KDD CUP 99 Data Set"</a:t>
            </a:r>
            <a:endParaRPr b="0" i="0" sz="850" u="none" cap="none" strike="noStrike">
              <a:solidFill>
                <a:schemeClr val="dk1"/>
              </a:solidFill>
              <a:latin typeface="Calibri"/>
              <a:ea typeface="Calibri"/>
              <a:cs typeface="Calibri"/>
              <a:sym typeface="Calibri"/>
            </a:endParaRPr>
          </a:p>
        </p:txBody>
      </p:sp>
      <p:sp>
        <p:nvSpPr>
          <p:cNvPr id="145" name="Google Shape;145;p5"/>
          <p:cNvSpPr/>
          <p:nvPr/>
        </p:nvSpPr>
        <p:spPr>
          <a:xfrm>
            <a:off x="905256" y="1837944"/>
            <a:ext cx="343814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Contribution: Proposed NSL-KDD — fixed duplicates and class imbalance in KDD99.</a:t>
            </a:r>
            <a:endParaRPr b="0" i="0" sz="900" u="none" cap="none" strike="noStrike">
              <a:solidFill>
                <a:schemeClr val="dk1"/>
              </a:solidFill>
              <a:latin typeface="Calibri"/>
              <a:ea typeface="Calibri"/>
              <a:cs typeface="Calibri"/>
              <a:sym typeface="Calibri"/>
            </a:endParaRPr>
          </a:p>
        </p:txBody>
      </p:sp>
      <p:sp>
        <p:nvSpPr>
          <p:cNvPr id="146" name="Google Shape;146;p5"/>
          <p:cNvSpPr/>
          <p:nvPr/>
        </p:nvSpPr>
        <p:spPr>
          <a:xfrm>
            <a:off x="905256" y="2267712"/>
            <a:ext cx="3438144"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9AA"/>
              </a:buClr>
              <a:buSzPts val="900"/>
              <a:buFont typeface="Calibri"/>
              <a:buNone/>
            </a:pPr>
            <a:r>
              <a:rPr b="1" i="0" lang="en-US" sz="900" u="none" cap="none" strike="noStrike">
                <a:solidFill>
                  <a:srgbClr val="0099AA"/>
                </a:solidFill>
                <a:latin typeface="Calibri"/>
                <a:ea typeface="Calibri"/>
                <a:cs typeface="Calibri"/>
                <a:sym typeface="Calibri"/>
              </a:rPr>
              <a:t>We improve: We build on NSL-KDD and add explainability — something this paper never addressed.</a:t>
            </a:r>
            <a:endParaRPr b="0" i="0" sz="900" u="none" cap="none" strike="noStrike">
              <a:solidFill>
                <a:schemeClr val="dk1"/>
              </a:solidFill>
              <a:latin typeface="Calibri"/>
              <a:ea typeface="Calibri"/>
              <a:cs typeface="Calibri"/>
              <a:sym typeface="Calibri"/>
            </a:endParaRPr>
          </a:p>
        </p:txBody>
      </p:sp>
      <p:sp>
        <p:nvSpPr>
          <p:cNvPr id="147" name="Google Shape;147;p5"/>
          <p:cNvSpPr/>
          <p:nvPr/>
        </p:nvSpPr>
        <p:spPr>
          <a:xfrm>
            <a:off x="411480" y="3127248"/>
            <a:ext cx="4041648" cy="1719072"/>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411480" y="3127248"/>
            <a:ext cx="402336" cy="1719072"/>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411480" y="3127248"/>
            <a:ext cx="402336" cy="17190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400"/>
              <a:buFont typeface="Calibri"/>
              <a:buNone/>
            </a:pPr>
            <a:r>
              <a:rPr b="1" i="0" lang="en-US" sz="1400" u="none" cap="none" strike="noStrike">
                <a:solidFill>
                  <a:srgbClr val="0A1628"/>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150" name="Google Shape;150;p5"/>
          <p:cNvSpPr/>
          <p:nvPr/>
        </p:nvSpPr>
        <p:spPr>
          <a:xfrm>
            <a:off x="905256" y="3191256"/>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Lundberg &amp; Lee (2017) · NeurIPS</a:t>
            </a:r>
            <a:endParaRPr b="0" i="0" sz="950" u="none" cap="none" strike="noStrike">
              <a:solidFill>
                <a:schemeClr val="dk1"/>
              </a:solidFill>
              <a:latin typeface="Calibri"/>
              <a:ea typeface="Calibri"/>
              <a:cs typeface="Calibri"/>
              <a:sym typeface="Calibri"/>
            </a:endParaRPr>
          </a:p>
        </p:txBody>
      </p:sp>
      <p:sp>
        <p:nvSpPr>
          <p:cNvPr id="151" name="Google Shape;151;p5"/>
          <p:cNvSpPr/>
          <p:nvPr/>
        </p:nvSpPr>
        <p:spPr>
          <a:xfrm>
            <a:off x="905256" y="3438144"/>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850"/>
              <a:buFont typeface="Calibri"/>
              <a:buNone/>
            </a:pPr>
            <a:r>
              <a:rPr b="0" i="1" lang="en-US" sz="850" u="none" cap="none" strike="noStrike">
                <a:solidFill>
                  <a:srgbClr val="8FA8B8"/>
                </a:solidFill>
                <a:latin typeface="Calibri"/>
                <a:ea typeface="Calibri"/>
                <a:cs typeface="Calibri"/>
                <a:sym typeface="Calibri"/>
              </a:rPr>
              <a:t>"A Unified Approach to Interpreting Model Predictions"</a:t>
            </a:r>
            <a:endParaRPr b="0" i="0" sz="850" u="none" cap="none" strike="noStrike">
              <a:solidFill>
                <a:schemeClr val="dk1"/>
              </a:solidFill>
              <a:latin typeface="Calibri"/>
              <a:ea typeface="Calibri"/>
              <a:cs typeface="Calibri"/>
              <a:sym typeface="Calibri"/>
            </a:endParaRPr>
          </a:p>
        </p:txBody>
      </p:sp>
      <p:sp>
        <p:nvSpPr>
          <p:cNvPr id="152" name="Google Shape;152;p5"/>
          <p:cNvSpPr/>
          <p:nvPr/>
        </p:nvSpPr>
        <p:spPr>
          <a:xfrm>
            <a:off x="905256" y="3703320"/>
            <a:ext cx="343814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Contribution: Introduced SHAP framework based on Shapley values — our core XAI method.</a:t>
            </a:r>
            <a:endParaRPr b="0" i="0" sz="900" u="none" cap="none" strike="noStrike">
              <a:solidFill>
                <a:schemeClr val="dk1"/>
              </a:solidFill>
              <a:latin typeface="Calibri"/>
              <a:ea typeface="Calibri"/>
              <a:cs typeface="Calibri"/>
              <a:sym typeface="Calibri"/>
            </a:endParaRPr>
          </a:p>
        </p:txBody>
      </p:sp>
      <p:sp>
        <p:nvSpPr>
          <p:cNvPr id="153" name="Google Shape;153;p5"/>
          <p:cNvSpPr/>
          <p:nvPr/>
        </p:nvSpPr>
        <p:spPr>
          <a:xfrm>
            <a:off x="905256" y="4133088"/>
            <a:ext cx="3438144"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9AA"/>
              </a:buClr>
              <a:buSzPts val="900"/>
              <a:buFont typeface="Calibri"/>
              <a:buNone/>
            </a:pPr>
            <a:r>
              <a:rPr b="1" i="0" lang="en-US" sz="900" u="none" cap="none" strike="noStrike">
                <a:solidFill>
                  <a:srgbClr val="0099AA"/>
                </a:solidFill>
                <a:latin typeface="Calibri"/>
                <a:ea typeface="Calibri"/>
                <a:cs typeface="Calibri"/>
                <a:sym typeface="Calibri"/>
              </a:rPr>
              <a:t>We improve: We apply SHAP to IDS network features and generate per-class security insights.</a:t>
            </a:r>
            <a:endParaRPr b="0" i="0" sz="900" u="none" cap="none" strike="noStrike">
              <a:solidFill>
                <a:schemeClr val="dk1"/>
              </a:solidFill>
              <a:latin typeface="Calibri"/>
              <a:ea typeface="Calibri"/>
              <a:cs typeface="Calibri"/>
              <a:sym typeface="Calibri"/>
            </a:endParaRPr>
          </a:p>
        </p:txBody>
      </p:sp>
      <p:sp>
        <p:nvSpPr>
          <p:cNvPr id="154" name="Google Shape;154;p5"/>
          <p:cNvSpPr/>
          <p:nvPr/>
        </p:nvSpPr>
        <p:spPr>
          <a:xfrm>
            <a:off x="4645152" y="1261872"/>
            <a:ext cx="4041648" cy="1719072"/>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645152" y="1261872"/>
            <a:ext cx="402336" cy="1719072"/>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645152" y="1261872"/>
            <a:ext cx="402336" cy="17190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400"/>
              <a:buFont typeface="Calibri"/>
              <a:buNone/>
            </a:pPr>
            <a:r>
              <a:rPr b="1" i="0" lang="en-US" sz="1400" u="none" cap="none" strike="noStrike">
                <a:solidFill>
                  <a:srgbClr val="0A1628"/>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157" name="Google Shape;157;p5"/>
          <p:cNvSpPr/>
          <p:nvPr/>
        </p:nvSpPr>
        <p:spPr>
          <a:xfrm>
            <a:off x="5138928" y="1325880"/>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Gaspar, Silva &amp; Silva (2024) · IEEE Access</a:t>
            </a:r>
            <a:endParaRPr b="0" i="0" sz="950" u="none" cap="none" strike="noStrike">
              <a:solidFill>
                <a:schemeClr val="dk1"/>
              </a:solidFill>
              <a:latin typeface="Calibri"/>
              <a:ea typeface="Calibri"/>
              <a:cs typeface="Calibri"/>
              <a:sym typeface="Calibri"/>
            </a:endParaRPr>
          </a:p>
        </p:txBody>
      </p:sp>
      <p:sp>
        <p:nvSpPr>
          <p:cNvPr id="158" name="Google Shape;158;p5"/>
          <p:cNvSpPr/>
          <p:nvPr/>
        </p:nvSpPr>
        <p:spPr>
          <a:xfrm>
            <a:off x="5138928" y="1572768"/>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850"/>
              <a:buFont typeface="Calibri"/>
              <a:buNone/>
            </a:pPr>
            <a:r>
              <a:rPr b="0" i="1" lang="en-US" sz="850" u="none" cap="none" strike="noStrike">
                <a:solidFill>
                  <a:srgbClr val="8FA8B8"/>
                </a:solidFill>
                <a:latin typeface="Calibri"/>
                <a:ea typeface="Calibri"/>
                <a:cs typeface="Calibri"/>
                <a:sym typeface="Calibri"/>
              </a:rPr>
              <a:t>"Explainable AI for IDS: LIME and SHAP on MLP"</a:t>
            </a:r>
            <a:endParaRPr b="0" i="0" sz="850" u="none" cap="none" strike="noStrike">
              <a:solidFill>
                <a:schemeClr val="dk1"/>
              </a:solidFill>
              <a:latin typeface="Calibri"/>
              <a:ea typeface="Calibri"/>
              <a:cs typeface="Calibri"/>
              <a:sym typeface="Calibri"/>
            </a:endParaRPr>
          </a:p>
        </p:txBody>
      </p:sp>
      <p:sp>
        <p:nvSpPr>
          <p:cNvPr id="159" name="Google Shape;159;p5"/>
          <p:cNvSpPr/>
          <p:nvPr/>
        </p:nvSpPr>
        <p:spPr>
          <a:xfrm>
            <a:off x="5138928" y="1837944"/>
            <a:ext cx="343814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Contribution: Applied SHAP+LIME to deep learning (MLP) for IoT IDS — approximate SHAP values.</a:t>
            </a:r>
            <a:endParaRPr b="0" i="0" sz="900" u="none" cap="none" strike="noStrike">
              <a:solidFill>
                <a:schemeClr val="dk1"/>
              </a:solidFill>
              <a:latin typeface="Calibri"/>
              <a:ea typeface="Calibri"/>
              <a:cs typeface="Calibri"/>
              <a:sym typeface="Calibri"/>
            </a:endParaRPr>
          </a:p>
        </p:txBody>
      </p:sp>
      <p:sp>
        <p:nvSpPr>
          <p:cNvPr id="160" name="Google Shape;160;p5"/>
          <p:cNvSpPr/>
          <p:nvPr/>
        </p:nvSpPr>
        <p:spPr>
          <a:xfrm>
            <a:off x="5138928" y="2267712"/>
            <a:ext cx="3438144"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9AA"/>
              </a:buClr>
              <a:buSzPts val="900"/>
              <a:buFont typeface="Calibri"/>
              <a:buNone/>
            </a:pPr>
            <a:r>
              <a:rPr b="1" i="0" lang="en-US" sz="900" u="none" cap="none" strike="noStrike">
                <a:solidFill>
                  <a:srgbClr val="0099AA"/>
                </a:solidFill>
                <a:latin typeface="Calibri"/>
                <a:ea typeface="Calibri"/>
                <a:cs typeface="Calibri"/>
                <a:sym typeface="Calibri"/>
              </a:rPr>
              <a:t>We improve: We use exact TreeSHAP and add per-class attack-specific analysis they omitted.</a:t>
            </a:r>
            <a:endParaRPr b="0" i="0" sz="900" u="none" cap="none" strike="noStrike">
              <a:solidFill>
                <a:schemeClr val="dk1"/>
              </a:solidFill>
              <a:latin typeface="Calibri"/>
              <a:ea typeface="Calibri"/>
              <a:cs typeface="Calibri"/>
              <a:sym typeface="Calibri"/>
            </a:endParaRPr>
          </a:p>
        </p:txBody>
      </p:sp>
      <p:sp>
        <p:nvSpPr>
          <p:cNvPr id="161" name="Google Shape;161;p5"/>
          <p:cNvSpPr/>
          <p:nvPr/>
        </p:nvSpPr>
        <p:spPr>
          <a:xfrm>
            <a:off x="4645152" y="3127248"/>
            <a:ext cx="4041648" cy="1719072"/>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4645152" y="3127248"/>
            <a:ext cx="402336" cy="1719072"/>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4645152" y="3127248"/>
            <a:ext cx="402336" cy="17190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400"/>
              <a:buFont typeface="Calibri"/>
              <a:buNone/>
            </a:pPr>
            <a:r>
              <a:rPr b="1" i="0" lang="en-US" sz="1400" u="none" cap="none" strike="noStrike">
                <a:solidFill>
                  <a:srgbClr val="0A1628"/>
                </a:solidFill>
                <a:latin typeface="Calibri"/>
                <a:ea typeface="Calibri"/>
                <a:cs typeface="Calibri"/>
                <a:sym typeface="Calibri"/>
              </a:rPr>
              <a:t>04</a:t>
            </a:r>
            <a:endParaRPr b="0" i="0" sz="1400" u="none" cap="none" strike="noStrike">
              <a:solidFill>
                <a:schemeClr val="dk1"/>
              </a:solidFill>
              <a:latin typeface="Calibri"/>
              <a:ea typeface="Calibri"/>
              <a:cs typeface="Calibri"/>
              <a:sym typeface="Calibri"/>
            </a:endParaRPr>
          </a:p>
        </p:txBody>
      </p:sp>
      <p:sp>
        <p:nvSpPr>
          <p:cNvPr id="164" name="Google Shape;164;p5"/>
          <p:cNvSpPr/>
          <p:nvPr/>
        </p:nvSpPr>
        <p:spPr>
          <a:xfrm>
            <a:off x="5138928" y="3191256"/>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Arreche et al. (2024) · IEEE Access</a:t>
            </a:r>
            <a:endParaRPr b="0" i="0" sz="950" u="none" cap="none" strike="noStrike">
              <a:solidFill>
                <a:schemeClr val="dk1"/>
              </a:solidFill>
              <a:latin typeface="Calibri"/>
              <a:ea typeface="Calibri"/>
              <a:cs typeface="Calibri"/>
              <a:sym typeface="Calibri"/>
            </a:endParaRPr>
          </a:p>
        </p:txBody>
      </p:sp>
      <p:sp>
        <p:nvSpPr>
          <p:cNvPr id="165" name="Google Shape;165;p5"/>
          <p:cNvSpPr/>
          <p:nvPr/>
        </p:nvSpPr>
        <p:spPr>
          <a:xfrm>
            <a:off x="5138928" y="3438144"/>
            <a:ext cx="3438144"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850"/>
              <a:buFont typeface="Calibri"/>
              <a:buNone/>
            </a:pPr>
            <a:r>
              <a:rPr b="0" i="1" lang="en-US" sz="850" u="none" cap="none" strike="noStrike">
                <a:solidFill>
                  <a:srgbClr val="8FA8B8"/>
                </a:solidFill>
                <a:latin typeface="Calibri"/>
                <a:ea typeface="Calibri"/>
                <a:cs typeface="Calibri"/>
                <a:sym typeface="Calibri"/>
              </a:rPr>
              <a:t>"E-XAI: Evaluating Black-Box XAI Frameworks for IDS"</a:t>
            </a:r>
            <a:endParaRPr b="0" i="0" sz="850" u="none" cap="none" strike="noStrike">
              <a:solidFill>
                <a:schemeClr val="dk1"/>
              </a:solidFill>
              <a:latin typeface="Calibri"/>
              <a:ea typeface="Calibri"/>
              <a:cs typeface="Calibri"/>
              <a:sym typeface="Calibri"/>
            </a:endParaRPr>
          </a:p>
        </p:txBody>
      </p:sp>
      <p:sp>
        <p:nvSpPr>
          <p:cNvPr id="166" name="Google Shape;166;p5"/>
          <p:cNvSpPr/>
          <p:nvPr/>
        </p:nvSpPr>
        <p:spPr>
          <a:xfrm>
            <a:off x="5138928" y="3703320"/>
            <a:ext cx="343814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Contribution: Found XAI methods give inconsistent explanations for the same IDS predictions.</a:t>
            </a:r>
            <a:endParaRPr b="0" i="0" sz="900" u="none" cap="none" strike="noStrike">
              <a:solidFill>
                <a:schemeClr val="dk1"/>
              </a:solidFill>
              <a:latin typeface="Calibri"/>
              <a:ea typeface="Calibri"/>
              <a:cs typeface="Calibri"/>
              <a:sym typeface="Calibri"/>
            </a:endParaRPr>
          </a:p>
        </p:txBody>
      </p:sp>
      <p:sp>
        <p:nvSpPr>
          <p:cNvPr id="167" name="Google Shape;167;p5"/>
          <p:cNvSpPr/>
          <p:nvPr/>
        </p:nvSpPr>
        <p:spPr>
          <a:xfrm>
            <a:off x="5138928" y="4133088"/>
            <a:ext cx="3438144"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9AA"/>
              </a:buClr>
              <a:buSzPts val="900"/>
              <a:buFont typeface="Calibri"/>
              <a:buNone/>
            </a:pPr>
            <a:r>
              <a:rPr b="1" i="0" lang="en-US" sz="900" u="none" cap="none" strike="noStrike">
                <a:solidFill>
                  <a:srgbClr val="0099AA"/>
                </a:solidFill>
                <a:latin typeface="Calibri"/>
                <a:ea typeface="Calibri"/>
                <a:cs typeface="Calibri"/>
                <a:sym typeface="Calibri"/>
              </a:rPr>
              <a:t>We improve: We measure SHAP vs LIME agreement on multi-class predictions, addressing this directly.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172" name="Shape 172"/>
        <p:cNvGrpSpPr/>
        <p:nvPr/>
      </p:nvGrpSpPr>
      <p:grpSpPr>
        <a:xfrm>
          <a:off x="0" y="0"/>
          <a:ext cx="0" cy="0"/>
          <a:chOff x="0" y="0"/>
          <a:chExt cx="0" cy="0"/>
        </a:xfrm>
      </p:grpSpPr>
      <p:sp>
        <p:nvSpPr>
          <p:cNvPr id="173" name="Google Shape;173;p6"/>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RESEARCH GAP</a:t>
            </a:r>
            <a:endParaRPr b="0" i="0" sz="850" u="none" cap="none" strike="noStrike">
              <a:solidFill>
                <a:schemeClr val="dk1"/>
              </a:solidFill>
              <a:latin typeface="Calibri"/>
              <a:ea typeface="Calibri"/>
              <a:cs typeface="Calibri"/>
              <a:sym typeface="Calibri"/>
            </a:endParaRPr>
          </a:p>
        </p:txBody>
      </p:sp>
      <p:sp>
        <p:nvSpPr>
          <p:cNvPr id="175" name="Google Shape;175;p6"/>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Research Gaps in Existing Literature &amp; This Thesis's Position</a:t>
            </a:r>
            <a:endParaRPr b="0" i="0" sz="2500" u="none" cap="none" strike="noStrike">
              <a:solidFill>
                <a:schemeClr val="dk1"/>
              </a:solidFill>
              <a:latin typeface="Calibri"/>
              <a:ea typeface="Calibri"/>
              <a:cs typeface="Calibri"/>
              <a:sym typeface="Calibri"/>
            </a:endParaRPr>
          </a:p>
        </p:txBody>
      </p:sp>
      <p:sp>
        <p:nvSpPr>
          <p:cNvPr id="176" name="Google Shape;176;p6"/>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6 / 14</a:t>
            </a:r>
            <a:endParaRPr b="0" i="0" sz="900" u="none" cap="none" strike="noStrike">
              <a:solidFill>
                <a:schemeClr val="dk1"/>
              </a:solidFill>
              <a:latin typeface="Calibri"/>
              <a:ea typeface="Calibri"/>
              <a:cs typeface="Calibri"/>
              <a:sym typeface="Calibri"/>
            </a:endParaRPr>
          </a:p>
        </p:txBody>
      </p:sp>
      <p:graphicFrame>
        <p:nvGraphicFramePr>
          <p:cNvPr id="178" name="Google Shape;178;p6"/>
          <p:cNvGraphicFramePr/>
          <p:nvPr/>
        </p:nvGraphicFramePr>
        <p:xfrm>
          <a:off x="411480" y="1261872"/>
          <a:ext cx="3000000" cy="3000000"/>
        </p:xfrm>
        <a:graphic>
          <a:graphicData uri="http://schemas.openxmlformats.org/drawingml/2006/table">
            <a:tbl>
              <a:tblPr>
                <a:noFill/>
                <a:tableStyleId>{AF9D303F-2B33-4B56-A156-256B2CC7E2F6}</a:tableStyleId>
              </a:tblPr>
              <a:tblGrid>
                <a:gridCol w="1572775"/>
                <a:gridCol w="621800"/>
                <a:gridCol w="1920250"/>
                <a:gridCol w="1316725"/>
                <a:gridCol w="1371600"/>
                <a:gridCol w="1536200"/>
              </a:tblGrid>
              <a:tr h="320050">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Study</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Year</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XAI</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Per-class SHAP?</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SHAP vs LIME?</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Exact SHAP?</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A1628"/>
                    </a:solidFill>
                  </a:tcPr>
                </a:tc>
              </a:tr>
              <a:tr h="3200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Gaspar et al.</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2024</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SHAP+LIME (MLP)</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Survey only</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 approx</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200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Arreche et al.</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2024</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SHAP+LIME+Anchors</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 approx</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200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Frontiers 2025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2025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SHAP+LIME+ELI5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 mixed</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20050">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MDPI 2025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2025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SHAP+LIME</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 binary only</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950"/>
                        <a:buFont typeface="Calibri"/>
                        <a:buNone/>
                      </a:pPr>
                      <a:r>
                        <a:rPr lang="en-US" sz="950" u="none" cap="none" strike="noStrike">
                          <a:solidFill>
                            <a:srgbClr val="000000"/>
                          </a:solidFill>
                          <a:latin typeface="Calibri"/>
                          <a:ea typeface="Calibri"/>
                          <a:cs typeface="Calibri"/>
                          <a:sym typeface="Calibri"/>
                        </a:rPr>
                        <a:t>✅ tree</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20050">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This Thesis</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2025</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SHAP+LIME</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 5 classes</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 Multi-class</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c>
                  <a:txBody>
                    <a:bodyPr/>
                    <a:lstStyle/>
                    <a:p>
                      <a:pPr indent="0" lvl="0" marL="0" marR="0" rtl="0" algn="l">
                        <a:spcBef>
                          <a:spcPts val="0"/>
                        </a:spcBef>
                        <a:spcAft>
                          <a:spcPts val="0"/>
                        </a:spcAft>
                        <a:buClr>
                          <a:srgbClr val="FFFFFF"/>
                        </a:buClr>
                        <a:buSzPts val="950"/>
                        <a:buFont typeface="Calibri"/>
                        <a:buNone/>
                      </a:pPr>
                      <a:r>
                        <a:rPr b="1" lang="en-US" sz="950" u="none" cap="none" strike="noStrike">
                          <a:solidFill>
                            <a:srgbClr val="FFFFFF"/>
                          </a:solidFill>
                          <a:latin typeface="Calibri"/>
                          <a:ea typeface="Calibri"/>
                          <a:cs typeface="Calibri"/>
                          <a:sym typeface="Calibri"/>
                        </a:rPr>
                        <a:t>✅ TreeSHAP</a:t>
                      </a:r>
                      <a:endParaRPr sz="9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99AA"/>
                    </a:solidFill>
                  </a:tcPr>
                </a:tc>
              </a:tr>
            </a:tbl>
          </a:graphicData>
        </a:graphic>
      </p:graphicFrame>
      <p:sp>
        <p:nvSpPr>
          <p:cNvPr id="179" name="Google Shape;179;p6"/>
          <p:cNvSpPr/>
          <p:nvPr/>
        </p:nvSpPr>
        <p:spPr>
          <a:xfrm>
            <a:off x="411480" y="3401568"/>
            <a:ext cx="4041648" cy="6583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11480" y="3401568"/>
            <a:ext cx="621792" cy="65836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11480" y="3401568"/>
            <a:ext cx="621792"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No Per-Class SHAP</a:t>
            </a:r>
            <a:endParaRPr b="0" i="0" sz="850" u="none" cap="none" strike="noStrike">
              <a:solidFill>
                <a:schemeClr val="dk1"/>
              </a:solidFill>
              <a:latin typeface="Calibri"/>
              <a:ea typeface="Calibri"/>
              <a:cs typeface="Calibri"/>
              <a:sym typeface="Calibri"/>
            </a:endParaRPr>
          </a:p>
        </p:txBody>
      </p:sp>
      <p:sp>
        <p:nvSpPr>
          <p:cNvPr id="182" name="Google Shape;182;p6"/>
          <p:cNvSpPr/>
          <p:nvPr/>
        </p:nvSpPr>
        <p:spPr>
          <a:xfrm>
            <a:off x="1106424" y="3474720"/>
            <a:ext cx="3236976"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All papers report only global importance. No study documents distinct SHAP signatures per attack class.</a:t>
            </a:r>
            <a:endParaRPr b="0" i="0" sz="950" u="none" cap="none" strike="noStrike">
              <a:solidFill>
                <a:schemeClr val="dk1"/>
              </a:solidFill>
              <a:latin typeface="Calibri"/>
              <a:ea typeface="Calibri"/>
              <a:cs typeface="Calibri"/>
              <a:sym typeface="Calibri"/>
            </a:endParaRPr>
          </a:p>
        </p:txBody>
      </p:sp>
      <p:sp>
        <p:nvSpPr>
          <p:cNvPr id="183" name="Google Shape;183;p6"/>
          <p:cNvSpPr/>
          <p:nvPr/>
        </p:nvSpPr>
        <p:spPr>
          <a:xfrm>
            <a:off x="411480" y="4087368"/>
            <a:ext cx="4041648" cy="6583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411480" y="4087368"/>
            <a:ext cx="621792" cy="65836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411480" y="4087368"/>
            <a:ext cx="621792"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No Explanation Quality Metric</a:t>
            </a:r>
            <a:endParaRPr b="0" i="0" sz="850" u="none" cap="none" strike="noStrike">
              <a:solidFill>
                <a:schemeClr val="dk1"/>
              </a:solidFill>
              <a:latin typeface="Calibri"/>
              <a:ea typeface="Calibri"/>
              <a:cs typeface="Calibri"/>
              <a:sym typeface="Calibri"/>
            </a:endParaRPr>
          </a:p>
        </p:txBody>
      </p:sp>
      <p:sp>
        <p:nvSpPr>
          <p:cNvPr id="186" name="Google Shape;186;p6"/>
          <p:cNvSpPr/>
          <p:nvPr/>
        </p:nvSpPr>
        <p:spPr>
          <a:xfrm>
            <a:off x="1106424" y="4160520"/>
            <a:ext cx="3236976"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Frontiers 2025 review (50+ papers): no standardized XAI quality metric for IDS exists.</a:t>
            </a:r>
            <a:endParaRPr b="0" i="0" sz="950" u="none" cap="none" strike="noStrike">
              <a:solidFill>
                <a:schemeClr val="dk1"/>
              </a:solidFill>
              <a:latin typeface="Calibri"/>
              <a:ea typeface="Calibri"/>
              <a:cs typeface="Calibri"/>
              <a:sym typeface="Calibri"/>
            </a:endParaRPr>
          </a:p>
        </p:txBody>
      </p:sp>
      <p:sp>
        <p:nvSpPr>
          <p:cNvPr id="187" name="Google Shape;187;p6"/>
          <p:cNvSpPr/>
          <p:nvPr/>
        </p:nvSpPr>
        <p:spPr>
          <a:xfrm>
            <a:off x="4645152" y="3401568"/>
            <a:ext cx="4041648" cy="6583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4645152" y="3401568"/>
            <a:ext cx="621792" cy="65836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645152" y="3401568"/>
            <a:ext cx="621792"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SHAP vs LIME Binary Only</a:t>
            </a:r>
            <a:endParaRPr b="0" i="0" sz="850" u="none" cap="none" strike="noStrike">
              <a:solidFill>
                <a:schemeClr val="dk1"/>
              </a:solidFill>
              <a:latin typeface="Calibri"/>
              <a:ea typeface="Calibri"/>
              <a:cs typeface="Calibri"/>
              <a:sym typeface="Calibri"/>
            </a:endParaRPr>
          </a:p>
        </p:txBody>
      </p:sp>
      <p:sp>
        <p:nvSpPr>
          <p:cNvPr id="190" name="Google Shape;190;p6"/>
          <p:cNvSpPr/>
          <p:nvPr/>
        </p:nvSpPr>
        <p:spPr>
          <a:xfrm>
            <a:off x="5340096" y="3474720"/>
            <a:ext cx="3236976"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MDPI 2025 compared methods on binary classification only — no multi-class comparison exists.</a:t>
            </a:r>
            <a:endParaRPr b="0" i="0" sz="950" u="none" cap="none" strike="noStrike">
              <a:solidFill>
                <a:schemeClr val="dk1"/>
              </a:solidFill>
              <a:latin typeface="Calibri"/>
              <a:ea typeface="Calibri"/>
              <a:cs typeface="Calibri"/>
              <a:sym typeface="Calibri"/>
            </a:endParaRPr>
          </a:p>
        </p:txBody>
      </p:sp>
      <p:sp>
        <p:nvSpPr>
          <p:cNvPr id="191" name="Google Shape;191;p6"/>
          <p:cNvSpPr/>
          <p:nvPr/>
        </p:nvSpPr>
        <p:spPr>
          <a:xfrm>
            <a:off x="4645152" y="4087368"/>
            <a:ext cx="4041648" cy="6583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645152" y="4087368"/>
            <a:ext cx="621792" cy="65836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645152" y="4087368"/>
            <a:ext cx="621792"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Exact vs Approximate Ignored</a:t>
            </a:r>
            <a:endParaRPr b="0" i="0" sz="850" u="none" cap="none" strike="noStrike">
              <a:solidFill>
                <a:schemeClr val="dk1"/>
              </a:solidFill>
              <a:latin typeface="Calibri"/>
              <a:ea typeface="Calibri"/>
              <a:cs typeface="Calibri"/>
              <a:sym typeface="Calibri"/>
            </a:endParaRPr>
          </a:p>
        </p:txBody>
      </p:sp>
      <p:sp>
        <p:nvSpPr>
          <p:cNvPr id="194" name="Google Shape;194;p6"/>
          <p:cNvSpPr/>
          <p:nvPr/>
        </p:nvSpPr>
        <p:spPr>
          <a:xfrm>
            <a:off x="5340096" y="4160520"/>
            <a:ext cx="3236976"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Deep learning papers use approximate SHAP. The reliability difference from exact TreeSHAP is not discussed.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199" name="Shape 199"/>
        <p:cNvGrpSpPr/>
        <p:nvPr/>
      </p:nvGrpSpPr>
      <p:grpSpPr>
        <a:xfrm>
          <a:off x="0" y="0"/>
          <a:ext cx="0" cy="0"/>
          <a:chOff x="0" y="0"/>
          <a:chExt cx="0" cy="0"/>
        </a:xfrm>
      </p:grpSpPr>
      <p:sp>
        <p:nvSpPr>
          <p:cNvPr id="200" name="Google Shape;200;p7"/>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CONTRIBUTION</a:t>
            </a:r>
            <a:endParaRPr b="0" i="0" sz="850" u="none" cap="none" strike="noStrike">
              <a:solidFill>
                <a:schemeClr val="dk1"/>
              </a:solidFill>
              <a:latin typeface="Calibri"/>
              <a:ea typeface="Calibri"/>
              <a:cs typeface="Calibri"/>
              <a:sym typeface="Calibri"/>
            </a:endParaRPr>
          </a:p>
        </p:txBody>
      </p:sp>
      <p:sp>
        <p:nvSpPr>
          <p:cNvPr id="202" name="Google Shape;202;p7"/>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What This Thesis Contributes — Three Specific Findings</a:t>
            </a:r>
            <a:endParaRPr b="0" i="0" sz="2500" u="none" cap="none" strike="noStrike">
              <a:solidFill>
                <a:schemeClr val="dk1"/>
              </a:solidFill>
              <a:latin typeface="Calibri"/>
              <a:ea typeface="Calibri"/>
              <a:cs typeface="Calibri"/>
              <a:sym typeface="Calibri"/>
            </a:endParaRPr>
          </a:p>
        </p:txBody>
      </p:sp>
      <p:sp>
        <p:nvSpPr>
          <p:cNvPr id="203" name="Google Shape;203;p7"/>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7 / 14</a:t>
            </a:r>
            <a:endParaRPr b="0" i="0" sz="900" u="none" cap="none" strike="noStrike">
              <a:solidFill>
                <a:schemeClr val="dk1"/>
              </a:solidFill>
              <a:latin typeface="Calibri"/>
              <a:ea typeface="Calibri"/>
              <a:cs typeface="Calibri"/>
              <a:sym typeface="Calibri"/>
            </a:endParaRPr>
          </a:p>
        </p:txBody>
      </p:sp>
      <p:sp>
        <p:nvSpPr>
          <p:cNvPr id="205" name="Google Shape;205;p7"/>
          <p:cNvSpPr/>
          <p:nvPr/>
        </p:nvSpPr>
        <p:spPr>
          <a:xfrm>
            <a:off x="411480" y="1261872"/>
            <a:ext cx="8339328" cy="79552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411480" y="1261872"/>
            <a:ext cx="402336" cy="795528"/>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411480" y="1261872"/>
            <a:ext cx="402336" cy="7955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300"/>
              <a:buFont typeface="Calibri"/>
              <a:buNone/>
            </a:pPr>
            <a:r>
              <a:rPr b="1" i="0" lang="en-US" sz="1300" u="none" cap="none" strike="noStrike">
                <a:solidFill>
                  <a:srgbClr val="0A1628"/>
                </a:solidFill>
                <a:latin typeface="Calibri"/>
                <a:ea typeface="Calibri"/>
                <a:cs typeface="Calibri"/>
                <a:sym typeface="Calibri"/>
              </a:rPr>
              <a:t>C1</a:t>
            </a:r>
            <a:endParaRPr b="0" i="0" sz="1300" u="none" cap="none" strike="noStrike">
              <a:solidFill>
                <a:schemeClr val="dk1"/>
              </a:solidFill>
              <a:latin typeface="Calibri"/>
              <a:ea typeface="Calibri"/>
              <a:cs typeface="Calibri"/>
              <a:sym typeface="Calibri"/>
            </a:endParaRPr>
          </a:p>
        </p:txBody>
      </p:sp>
      <p:sp>
        <p:nvSpPr>
          <p:cNvPr id="208" name="Google Shape;208;p7"/>
          <p:cNvSpPr/>
          <p:nvPr/>
        </p:nvSpPr>
        <p:spPr>
          <a:xfrm>
            <a:off x="896112" y="1316736"/>
            <a:ext cx="7735824"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i="0" lang="en-US" sz="1050" u="none" cap="none" strike="noStrike">
                <a:solidFill>
                  <a:srgbClr val="0A1628"/>
                </a:solidFill>
                <a:latin typeface="Calibri"/>
                <a:ea typeface="Calibri"/>
                <a:cs typeface="Calibri"/>
                <a:sym typeface="Calibri"/>
              </a:rPr>
              <a:t>Per-Class SHAP Feature Signatures — Novel Empirical Finding</a:t>
            </a:r>
            <a:endParaRPr b="0" i="0" sz="1050" u="none" cap="none" strike="noStrike">
              <a:solidFill>
                <a:schemeClr val="dk1"/>
              </a:solidFill>
              <a:latin typeface="Calibri"/>
              <a:ea typeface="Calibri"/>
              <a:cs typeface="Calibri"/>
              <a:sym typeface="Calibri"/>
            </a:endParaRPr>
          </a:p>
        </p:txBody>
      </p:sp>
      <p:sp>
        <p:nvSpPr>
          <p:cNvPr id="209" name="Google Shape;209;p7"/>
          <p:cNvSpPr/>
          <p:nvPr/>
        </p:nvSpPr>
        <p:spPr>
          <a:xfrm>
            <a:off x="896112" y="1591056"/>
            <a:ext cx="773582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The first systematic documentation that all 5 NSL-KDD attack classes have distinct, domain-explainable SHAP feature signatures. DoS is driven by volume features. Probe by scan diversity metrics. R2L by authentication failure indicators. U2R by shell access flags. No 2024–2025 paper documents this across all five classes simultaneously.</a:t>
            </a:r>
            <a:endParaRPr b="0" i="0" sz="950" u="none" cap="none" strike="noStrike">
              <a:solidFill>
                <a:schemeClr val="dk1"/>
              </a:solidFill>
              <a:latin typeface="Calibri"/>
              <a:ea typeface="Calibri"/>
              <a:cs typeface="Calibri"/>
              <a:sym typeface="Calibri"/>
            </a:endParaRPr>
          </a:p>
        </p:txBody>
      </p:sp>
      <p:sp>
        <p:nvSpPr>
          <p:cNvPr id="210" name="Google Shape;210;p7"/>
          <p:cNvSpPr/>
          <p:nvPr/>
        </p:nvSpPr>
        <p:spPr>
          <a:xfrm>
            <a:off x="411480" y="2148840"/>
            <a:ext cx="8339328" cy="79552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411480" y="2148840"/>
            <a:ext cx="402336" cy="795528"/>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411480" y="2148840"/>
            <a:ext cx="402336" cy="7955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300"/>
              <a:buFont typeface="Calibri"/>
              <a:buNone/>
            </a:pPr>
            <a:r>
              <a:rPr b="1" i="0" lang="en-US" sz="1300" u="none" cap="none" strike="noStrike">
                <a:solidFill>
                  <a:srgbClr val="0A1628"/>
                </a:solidFill>
                <a:latin typeface="Calibri"/>
                <a:ea typeface="Calibri"/>
                <a:cs typeface="Calibri"/>
                <a:sym typeface="Calibri"/>
              </a:rPr>
              <a:t>C2</a:t>
            </a:r>
            <a:endParaRPr b="0" i="0" sz="1300" u="none" cap="none" strike="noStrike">
              <a:solidFill>
                <a:schemeClr val="dk1"/>
              </a:solidFill>
              <a:latin typeface="Calibri"/>
              <a:ea typeface="Calibri"/>
              <a:cs typeface="Calibri"/>
              <a:sym typeface="Calibri"/>
            </a:endParaRPr>
          </a:p>
        </p:txBody>
      </p:sp>
      <p:sp>
        <p:nvSpPr>
          <p:cNvPr id="213" name="Google Shape;213;p7"/>
          <p:cNvSpPr/>
          <p:nvPr/>
        </p:nvSpPr>
        <p:spPr>
          <a:xfrm>
            <a:off x="896112" y="2203704"/>
            <a:ext cx="7735824"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i="0" lang="en-US" sz="1050" u="none" cap="none" strike="noStrike">
                <a:solidFill>
                  <a:srgbClr val="0A1628"/>
                </a:solidFill>
                <a:latin typeface="Calibri"/>
                <a:ea typeface="Calibri"/>
                <a:cs typeface="Calibri"/>
                <a:sym typeface="Calibri"/>
              </a:rPr>
              <a:t>Multi-Class SHAP vs LIME Comparison — Extending Arreche (2024)</a:t>
            </a:r>
            <a:endParaRPr b="0" i="0" sz="1050" u="none" cap="none" strike="noStrike">
              <a:solidFill>
                <a:schemeClr val="dk1"/>
              </a:solidFill>
              <a:latin typeface="Calibri"/>
              <a:ea typeface="Calibri"/>
              <a:cs typeface="Calibri"/>
              <a:sym typeface="Calibri"/>
            </a:endParaRPr>
          </a:p>
        </p:txBody>
      </p:sp>
      <p:sp>
        <p:nvSpPr>
          <p:cNvPr id="214" name="Google Shape;214;p7"/>
          <p:cNvSpPr/>
          <p:nvPr/>
        </p:nvSpPr>
        <p:spPr>
          <a:xfrm>
            <a:off x="896112" y="2478024"/>
            <a:ext cx="773582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Arreche et al. (2024) showed XAI methods give inconsistent explanations but did not measure agreement. MDPI 2025 compared SHAP and LIME but only on binary (attack/normal). This thesis extends that to 5-class predictions — measuring where SHAP and LIME agree (strong evidence) and where they diverge (flags reliability concerns).</a:t>
            </a:r>
            <a:endParaRPr b="0" i="0" sz="950" u="none" cap="none" strike="noStrike">
              <a:solidFill>
                <a:schemeClr val="dk1"/>
              </a:solidFill>
              <a:latin typeface="Calibri"/>
              <a:ea typeface="Calibri"/>
              <a:cs typeface="Calibri"/>
              <a:sym typeface="Calibri"/>
            </a:endParaRPr>
          </a:p>
        </p:txBody>
      </p:sp>
      <p:sp>
        <p:nvSpPr>
          <p:cNvPr id="215" name="Google Shape;215;p7"/>
          <p:cNvSpPr/>
          <p:nvPr/>
        </p:nvSpPr>
        <p:spPr>
          <a:xfrm>
            <a:off x="411480" y="3035808"/>
            <a:ext cx="8339328" cy="79552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411480" y="3035808"/>
            <a:ext cx="402336" cy="7955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411480" y="3035808"/>
            <a:ext cx="402336" cy="7955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300"/>
              <a:buFont typeface="Calibri"/>
              <a:buNone/>
            </a:pPr>
            <a:r>
              <a:rPr b="1" i="0" lang="en-US" sz="1300" u="none" cap="none" strike="noStrike">
                <a:solidFill>
                  <a:srgbClr val="0A1628"/>
                </a:solidFill>
                <a:latin typeface="Calibri"/>
                <a:ea typeface="Calibri"/>
                <a:cs typeface="Calibri"/>
                <a:sym typeface="Calibri"/>
              </a:rPr>
              <a:t>C3</a:t>
            </a:r>
            <a:endParaRPr b="0" i="0" sz="1300" u="none" cap="none" strike="noStrike">
              <a:solidFill>
                <a:schemeClr val="dk1"/>
              </a:solidFill>
              <a:latin typeface="Calibri"/>
              <a:ea typeface="Calibri"/>
              <a:cs typeface="Calibri"/>
              <a:sym typeface="Calibri"/>
            </a:endParaRPr>
          </a:p>
        </p:txBody>
      </p:sp>
      <p:sp>
        <p:nvSpPr>
          <p:cNvPr id="218" name="Google Shape;218;p7"/>
          <p:cNvSpPr/>
          <p:nvPr/>
        </p:nvSpPr>
        <p:spPr>
          <a:xfrm>
            <a:off x="896112" y="3090672"/>
            <a:ext cx="7735824"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i="0" lang="en-US" sz="1050" u="none" cap="none" strike="noStrike">
                <a:solidFill>
                  <a:srgbClr val="0A1628"/>
                </a:solidFill>
                <a:latin typeface="Calibri"/>
                <a:ea typeface="Calibri"/>
                <a:cs typeface="Calibri"/>
                <a:sym typeface="Calibri"/>
              </a:rPr>
              <a:t>Exact TreeSHAP Across Three Models — Answering an Open Question</a:t>
            </a:r>
            <a:endParaRPr b="0" i="0" sz="1050" u="none" cap="none" strike="noStrike">
              <a:solidFill>
                <a:schemeClr val="dk1"/>
              </a:solidFill>
              <a:latin typeface="Calibri"/>
              <a:ea typeface="Calibri"/>
              <a:cs typeface="Calibri"/>
              <a:sym typeface="Calibri"/>
            </a:endParaRPr>
          </a:p>
        </p:txBody>
      </p:sp>
      <p:sp>
        <p:nvSpPr>
          <p:cNvPr id="219" name="Google Shape;219;p7"/>
          <p:cNvSpPr/>
          <p:nvPr/>
        </p:nvSpPr>
        <p:spPr>
          <a:xfrm>
            <a:off x="896112" y="3364992"/>
            <a:ext cx="773582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Gaspar et al. (2024) used approximate SHAP on deep learning and could not compare explanation quality across model types. This thesis applies exact TreeSHAP to Decision Tree, Random Forest, and XGBoost under identical conditions — revealing whether explanation quality changes with model complexity, an open question in current literature.</a:t>
            </a:r>
            <a:endParaRPr b="0" i="0" sz="950" u="none" cap="none" strike="noStrike">
              <a:solidFill>
                <a:schemeClr val="dk1"/>
              </a:solidFill>
              <a:latin typeface="Calibri"/>
              <a:ea typeface="Calibri"/>
              <a:cs typeface="Calibri"/>
              <a:sym typeface="Calibri"/>
            </a:endParaRPr>
          </a:p>
        </p:txBody>
      </p:sp>
      <p:sp>
        <p:nvSpPr>
          <p:cNvPr id="220" name="Google Shape;220;p7"/>
          <p:cNvSpPr/>
          <p:nvPr/>
        </p:nvSpPr>
        <p:spPr>
          <a:xfrm>
            <a:off x="411480" y="3922776"/>
            <a:ext cx="8339328" cy="79552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411480" y="3922776"/>
            <a:ext cx="402336" cy="795528"/>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411480" y="3922776"/>
            <a:ext cx="402336" cy="7955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300"/>
              <a:buFont typeface="Calibri"/>
              <a:buNone/>
            </a:pPr>
            <a:r>
              <a:rPr b="1" i="0" lang="en-US" sz="1300" u="none" cap="none" strike="noStrike">
                <a:solidFill>
                  <a:srgbClr val="0A1628"/>
                </a:solidFill>
                <a:latin typeface="Calibri"/>
                <a:ea typeface="Calibri"/>
                <a:cs typeface="Calibri"/>
                <a:sym typeface="Calibri"/>
              </a:rPr>
              <a:t>C4</a:t>
            </a:r>
            <a:endParaRPr b="0" i="0" sz="1300" u="none" cap="none" strike="noStrike">
              <a:solidFill>
                <a:schemeClr val="dk1"/>
              </a:solidFill>
              <a:latin typeface="Calibri"/>
              <a:ea typeface="Calibri"/>
              <a:cs typeface="Calibri"/>
              <a:sym typeface="Calibri"/>
            </a:endParaRPr>
          </a:p>
        </p:txBody>
      </p:sp>
      <p:sp>
        <p:nvSpPr>
          <p:cNvPr id="223" name="Google Shape;223;p7"/>
          <p:cNvSpPr/>
          <p:nvPr/>
        </p:nvSpPr>
        <p:spPr>
          <a:xfrm>
            <a:off x="896112" y="3977640"/>
            <a:ext cx="7735824"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50"/>
              <a:buFont typeface="Calibri"/>
              <a:buNone/>
            </a:pPr>
            <a:r>
              <a:rPr b="1" i="0" lang="en-US" sz="1050" u="none" cap="none" strike="noStrike">
                <a:solidFill>
                  <a:srgbClr val="0A1628"/>
                </a:solidFill>
                <a:latin typeface="Calibri"/>
                <a:ea typeface="Calibri"/>
                <a:cs typeface="Calibri"/>
                <a:sym typeface="Calibri"/>
              </a:rPr>
              <a:t>Reproducible Open Implementation — Addressing the Replication Gap</a:t>
            </a:r>
            <a:endParaRPr b="0" i="0" sz="1050" u="none" cap="none" strike="noStrike">
              <a:solidFill>
                <a:schemeClr val="dk1"/>
              </a:solidFill>
              <a:latin typeface="Calibri"/>
              <a:ea typeface="Calibri"/>
              <a:cs typeface="Calibri"/>
              <a:sym typeface="Calibri"/>
            </a:endParaRPr>
          </a:p>
        </p:txBody>
      </p:sp>
      <p:sp>
        <p:nvSpPr>
          <p:cNvPr id="224" name="Google Shape;224;p7"/>
          <p:cNvSpPr/>
          <p:nvPr/>
        </p:nvSpPr>
        <p:spPr>
          <a:xfrm>
            <a:off x="896112" y="4251960"/>
            <a:ext cx="7735824"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The 2025 Frontiers systematic review (50+ papers) explicitly identifies reproducibility as a major problem in XAI+IDS research. This thesis provides a fully documented, open Google Colab implementation where every step — from preprocessing through SHAP analysis — is reproducible without additional setup.</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229" name="Shape 229"/>
        <p:cNvGrpSpPr/>
        <p:nvPr/>
      </p:nvGrpSpPr>
      <p:grpSpPr>
        <a:xfrm>
          <a:off x="0" y="0"/>
          <a:ext cx="0" cy="0"/>
          <a:chOff x="0" y="0"/>
          <a:chExt cx="0" cy="0"/>
        </a:xfrm>
      </p:grpSpPr>
      <p:sp>
        <p:nvSpPr>
          <p:cNvPr id="230" name="Google Shape;230;p8"/>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METHODOLOGY</a:t>
            </a:r>
            <a:endParaRPr b="0" i="0" sz="850" u="none" cap="none" strike="noStrike">
              <a:solidFill>
                <a:schemeClr val="dk1"/>
              </a:solidFill>
              <a:latin typeface="Calibri"/>
              <a:ea typeface="Calibri"/>
              <a:cs typeface="Calibri"/>
              <a:sym typeface="Calibri"/>
            </a:endParaRPr>
          </a:p>
        </p:txBody>
      </p:sp>
      <p:sp>
        <p:nvSpPr>
          <p:cNvPr id="232" name="Google Shape;232;p8"/>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Research Methodology — Step by Step</a:t>
            </a:r>
            <a:endParaRPr b="0" i="0" sz="2500" u="none" cap="none" strike="noStrike">
              <a:solidFill>
                <a:schemeClr val="dk1"/>
              </a:solidFill>
              <a:latin typeface="Calibri"/>
              <a:ea typeface="Calibri"/>
              <a:cs typeface="Calibri"/>
              <a:sym typeface="Calibri"/>
            </a:endParaRPr>
          </a:p>
        </p:txBody>
      </p:sp>
      <p:sp>
        <p:nvSpPr>
          <p:cNvPr id="233" name="Google Shape;233;p8"/>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8 / 14</a:t>
            </a:r>
            <a:endParaRPr b="0" i="0" sz="900" u="none" cap="none" strike="noStrike">
              <a:solidFill>
                <a:schemeClr val="dk1"/>
              </a:solidFill>
              <a:latin typeface="Calibri"/>
              <a:ea typeface="Calibri"/>
              <a:cs typeface="Calibri"/>
              <a:sym typeface="Calibri"/>
            </a:endParaRPr>
          </a:p>
        </p:txBody>
      </p:sp>
      <p:sp>
        <p:nvSpPr>
          <p:cNvPr id="235" name="Google Shape;235;p8"/>
          <p:cNvSpPr/>
          <p:nvPr/>
        </p:nvSpPr>
        <p:spPr>
          <a:xfrm>
            <a:off x="347472" y="1298448"/>
            <a:ext cx="1353312" cy="45720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347472"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1. Dataset</a:t>
            </a:r>
            <a:endParaRPr b="0" i="0" sz="1100" u="none" cap="none" strike="noStrike">
              <a:solidFill>
                <a:schemeClr val="dk1"/>
              </a:solidFill>
              <a:latin typeface="Calibri"/>
              <a:ea typeface="Calibri"/>
              <a:cs typeface="Calibri"/>
              <a:sym typeface="Calibri"/>
            </a:endParaRPr>
          </a:p>
        </p:txBody>
      </p:sp>
      <p:sp>
        <p:nvSpPr>
          <p:cNvPr id="237" name="Google Shape;237;p8"/>
          <p:cNvSpPr/>
          <p:nvPr/>
        </p:nvSpPr>
        <p:spPr>
          <a:xfrm>
            <a:off x="347472"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402336"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NSL-KDD</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KDDTrain+</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KDDTest+</a:t>
            </a:r>
            <a:endParaRPr b="0" i="0" sz="950" u="none" cap="none" strike="noStrike">
              <a:solidFill>
                <a:schemeClr val="dk1"/>
              </a:solidFill>
              <a:latin typeface="Calibri"/>
              <a:ea typeface="Calibri"/>
              <a:cs typeface="Calibri"/>
              <a:sym typeface="Calibri"/>
            </a:endParaRPr>
          </a:p>
        </p:txBody>
      </p:sp>
      <p:cxnSp>
        <p:nvCxnSpPr>
          <p:cNvPr id="239" name="Google Shape;239;p8"/>
          <p:cNvCxnSpPr/>
          <p:nvPr/>
        </p:nvCxnSpPr>
        <p:spPr>
          <a:xfrm>
            <a:off x="1700784" y="1536192"/>
            <a:ext cx="91440" cy="0"/>
          </a:xfrm>
          <a:prstGeom prst="straightConnector1">
            <a:avLst/>
          </a:prstGeom>
          <a:noFill/>
          <a:ln cap="flat" cmpd="sng" w="19050">
            <a:solidFill>
              <a:srgbClr val="8FA8B8"/>
            </a:solidFill>
            <a:prstDash val="solid"/>
            <a:round/>
            <a:headEnd len="sm" w="sm" type="none"/>
            <a:tailEnd len="sm" w="sm" type="none"/>
          </a:ln>
        </p:spPr>
      </p:cxnSp>
      <p:sp>
        <p:nvSpPr>
          <p:cNvPr id="240" name="Google Shape;240;p8"/>
          <p:cNvSpPr/>
          <p:nvPr/>
        </p:nvSpPr>
        <p:spPr>
          <a:xfrm>
            <a:off x="1792224" y="1298448"/>
            <a:ext cx="1353312" cy="45720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1792224"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2. Preprocess</a:t>
            </a:r>
            <a:endParaRPr b="0" i="0" sz="1100" u="none" cap="none" strike="noStrike">
              <a:solidFill>
                <a:schemeClr val="dk1"/>
              </a:solidFill>
              <a:latin typeface="Calibri"/>
              <a:ea typeface="Calibri"/>
              <a:cs typeface="Calibri"/>
              <a:sym typeface="Calibri"/>
            </a:endParaRPr>
          </a:p>
        </p:txBody>
      </p:sp>
      <p:sp>
        <p:nvSpPr>
          <p:cNvPr id="242" name="Google Shape;242;p8"/>
          <p:cNvSpPr/>
          <p:nvPr/>
        </p:nvSpPr>
        <p:spPr>
          <a:xfrm>
            <a:off x="1792224"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1847088"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Attack mapping</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Label encoding</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StandardScaler</a:t>
            </a:r>
            <a:endParaRPr b="0" i="0" sz="950" u="none" cap="none" strike="noStrike">
              <a:solidFill>
                <a:schemeClr val="dk1"/>
              </a:solidFill>
              <a:latin typeface="Calibri"/>
              <a:ea typeface="Calibri"/>
              <a:cs typeface="Calibri"/>
              <a:sym typeface="Calibri"/>
            </a:endParaRPr>
          </a:p>
        </p:txBody>
      </p:sp>
      <p:cxnSp>
        <p:nvCxnSpPr>
          <p:cNvPr id="244" name="Google Shape;244;p8"/>
          <p:cNvCxnSpPr/>
          <p:nvPr/>
        </p:nvCxnSpPr>
        <p:spPr>
          <a:xfrm>
            <a:off x="3145536" y="1536192"/>
            <a:ext cx="91440" cy="0"/>
          </a:xfrm>
          <a:prstGeom prst="straightConnector1">
            <a:avLst/>
          </a:prstGeom>
          <a:noFill/>
          <a:ln cap="flat" cmpd="sng" w="19050">
            <a:solidFill>
              <a:srgbClr val="8FA8B8"/>
            </a:solidFill>
            <a:prstDash val="solid"/>
            <a:round/>
            <a:headEnd len="sm" w="sm" type="none"/>
            <a:tailEnd len="sm" w="sm" type="none"/>
          </a:ln>
        </p:spPr>
      </p:cxnSp>
      <p:sp>
        <p:nvSpPr>
          <p:cNvPr id="245" name="Google Shape;245;p8"/>
          <p:cNvSpPr/>
          <p:nvPr/>
        </p:nvSpPr>
        <p:spPr>
          <a:xfrm>
            <a:off x="3236976" y="1298448"/>
            <a:ext cx="1353312" cy="4572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3236976"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3. Train</a:t>
            </a:r>
            <a:endParaRPr b="0" i="0" sz="1100" u="none" cap="none" strike="noStrike">
              <a:solidFill>
                <a:schemeClr val="dk1"/>
              </a:solidFill>
              <a:latin typeface="Calibri"/>
              <a:ea typeface="Calibri"/>
              <a:cs typeface="Calibri"/>
              <a:sym typeface="Calibri"/>
            </a:endParaRPr>
          </a:p>
        </p:txBody>
      </p:sp>
      <p:sp>
        <p:nvSpPr>
          <p:cNvPr id="247" name="Google Shape;247;p8"/>
          <p:cNvSpPr/>
          <p:nvPr/>
        </p:nvSpPr>
        <p:spPr>
          <a:xfrm>
            <a:off x="3236976"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3291840"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Decision Tree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Random Forest</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XGBoost</a:t>
            </a:r>
            <a:endParaRPr b="0" i="0" sz="950" u="none" cap="none" strike="noStrike">
              <a:solidFill>
                <a:schemeClr val="dk1"/>
              </a:solidFill>
              <a:latin typeface="Calibri"/>
              <a:ea typeface="Calibri"/>
              <a:cs typeface="Calibri"/>
              <a:sym typeface="Calibri"/>
            </a:endParaRPr>
          </a:p>
        </p:txBody>
      </p:sp>
      <p:cxnSp>
        <p:nvCxnSpPr>
          <p:cNvPr id="249" name="Google Shape;249;p8"/>
          <p:cNvCxnSpPr/>
          <p:nvPr/>
        </p:nvCxnSpPr>
        <p:spPr>
          <a:xfrm>
            <a:off x="4590288" y="1536192"/>
            <a:ext cx="91440" cy="0"/>
          </a:xfrm>
          <a:prstGeom prst="straightConnector1">
            <a:avLst/>
          </a:prstGeom>
          <a:noFill/>
          <a:ln cap="flat" cmpd="sng" w="19050">
            <a:solidFill>
              <a:srgbClr val="8FA8B8"/>
            </a:solidFill>
            <a:prstDash val="solid"/>
            <a:round/>
            <a:headEnd len="sm" w="sm" type="none"/>
            <a:tailEnd len="sm" w="sm" type="none"/>
          </a:ln>
        </p:spPr>
      </p:cxnSp>
      <p:sp>
        <p:nvSpPr>
          <p:cNvPr id="250" name="Google Shape;250;p8"/>
          <p:cNvSpPr/>
          <p:nvPr/>
        </p:nvSpPr>
        <p:spPr>
          <a:xfrm>
            <a:off x="4681728" y="1298448"/>
            <a:ext cx="1353312" cy="457200"/>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4681728"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4. Evaluate</a:t>
            </a:r>
            <a:endParaRPr b="0" i="0" sz="1100" u="none" cap="none" strike="noStrike">
              <a:solidFill>
                <a:schemeClr val="dk1"/>
              </a:solidFill>
              <a:latin typeface="Calibri"/>
              <a:ea typeface="Calibri"/>
              <a:cs typeface="Calibri"/>
              <a:sym typeface="Calibri"/>
            </a:endParaRPr>
          </a:p>
        </p:txBody>
      </p:sp>
      <p:sp>
        <p:nvSpPr>
          <p:cNvPr id="252" name="Google Shape;252;p8"/>
          <p:cNvSpPr/>
          <p:nvPr/>
        </p:nvSpPr>
        <p:spPr>
          <a:xfrm>
            <a:off x="4681728"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4736592"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Accuracy · F1</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Precision · Recall</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Conf. Matrix</a:t>
            </a:r>
            <a:endParaRPr b="0" i="0" sz="950" u="none" cap="none" strike="noStrike">
              <a:solidFill>
                <a:schemeClr val="dk1"/>
              </a:solidFill>
              <a:latin typeface="Calibri"/>
              <a:ea typeface="Calibri"/>
              <a:cs typeface="Calibri"/>
              <a:sym typeface="Calibri"/>
            </a:endParaRPr>
          </a:p>
        </p:txBody>
      </p:sp>
      <p:cxnSp>
        <p:nvCxnSpPr>
          <p:cNvPr id="254" name="Google Shape;254;p8"/>
          <p:cNvCxnSpPr/>
          <p:nvPr/>
        </p:nvCxnSpPr>
        <p:spPr>
          <a:xfrm>
            <a:off x="6035040" y="1536192"/>
            <a:ext cx="91440" cy="0"/>
          </a:xfrm>
          <a:prstGeom prst="straightConnector1">
            <a:avLst/>
          </a:prstGeom>
          <a:noFill/>
          <a:ln cap="flat" cmpd="sng" w="19050">
            <a:solidFill>
              <a:srgbClr val="8FA8B8"/>
            </a:solidFill>
            <a:prstDash val="solid"/>
            <a:round/>
            <a:headEnd len="sm" w="sm" type="none"/>
            <a:tailEnd len="sm" w="sm" type="none"/>
          </a:ln>
        </p:spPr>
      </p:cxnSp>
      <p:sp>
        <p:nvSpPr>
          <p:cNvPr id="255" name="Google Shape;255;p8"/>
          <p:cNvSpPr/>
          <p:nvPr/>
        </p:nvSpPr>
        <p:spPr>
          <a:xfrm>
            <a:off x="6126480" y="1298448"/>
            <a:ext cx="1353312" cy="45720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6126480"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5. SHAP</a:t>
            </a:r>
            <a:endParaRPr b="0" i="0" sz="1100" u="none" cap="none" strike="noStrike">
              <a:solidFill>
                <a:schemeClr val="dk1"/>
              </a:solidFill>
              <a:latin typeface="Calibri"/>
              <a:ea typeface="Calibri"/>
              <a:cs typeface="Calibri"/>
              <a:sym typeface="Calibri"/>
            </a:endParaRPr>
          </a:p>
        </p:txBody>
      </p:sp>
      <p:sp>
        <p:nvSpPr>
          <p:cNvPr id="257" name="Google Shape;257;p8"/>
          <p:cNvSpPr/>
          <p:nvPr/>
        </p:nvSpPr>
        <p:spPr>
          <a:xfrm>
            <a:off x="6126480"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6181344"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Global chart</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Per-class ×5</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Waterfall plots</a:t>
            </a:r>
            <a:endParaRPr b="0" i="0" sz="950" u="none" cap="none" strike="noStrike">
              <a:solidFill>
                <a:schemeClr val="dk1"/>
              </a:solidFill>
              <a:latin typeface="Calibri"/>
              <a:ea typeface="Calibri"/>
              <a:cs typeface="Calibri"/>
              <a:sym typeface="Calibri"/>
            </a:endParaRPr>
          </a:p>
        </p:txBody>
      </p:sp>
      <p:cxnSp>
        <p:nvCxnSpPr>
          <p:cNvPr id="259" name="Google Shape;259;p8"/>
          <p:cNvCxnSpPr/>
          <p:nvPr/>
        </p:nvCxnSpPr>
        <p:spPr>
          <a:xfrm>
            <a:off x="7479792" y="1536192"/>
            <a:ext cx="91440" cy="0"/>
          </a:xfrm>
          <a:prstGeom prst="straightConnector1">
            <a:avLst/>
          </a:prstGeom>
          <a:noFill/>
          <a:ln cap="flat" cmpd="sng" w="19050">
            <a:solidFill>
              <a:srgbClr val="8FA8B8"/>
            </a:solidFill>
            <a:prstDash val="solid"/>
            <a:round/>
            <a:headEnd len="sm" w="sm" type="none"/>
            <a:tailEnd len="sm" w="sm" type="none"/>
          </a:ln>
        </p:spPr>
      </p:cxnSp>
      <p:sp>
        <p:nvSpPr>
          <p:cNvPr id="260" name="Google Shape;260;p8"/>
          <p:cNvSpPr/>
          <p:nvPr/>
        </p:nvSpPr>
        <p:spPr>
          <a:xfrm>
            <a:off x="7571232" y="1298448"/>
            <a:ext cx="1353312" cy="45720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7571232" y="1298448"/>
            <a:ext cx="135331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1100"/>
              <a:buFont typeface="Calibri"/>
              <a:buNone/>
            </a:pPr>
            <a:r>
              <a:rPr b="1" i="0" lang="en-US" sz="1100" u="none" cap="none" strike="noStrike">
                <a:solidFill>
                  <a:srgbClr val="0A1628"/>
                </a:solidFill>
                <a:latin typeface="Calibri"/>
                <a:ea typeface="Calibri"/>
                <a:cs typeface="Calibri"/>
                <a:sym typeface="Calibri"/>
              </a:rPr>
              <a:t>6. LIME+Validate</a:t>
            </a:r>
            <a:endParaRPr b="0" i="0" sz="1100" u="none" cap="none" strike="noStrike">
              <a:solidFill>
                <a:schemeClr val="dk1"/>
              </a:solidFill>
              <a:latin typeface="Calibri"/>
              <a:ea typeface="Calibri"/>
              <a:cs typeface="Calibri"/>
              <a:sym typeface="Calibri"/>
            </a:endParaRPr>
          </a:p>
        </p:txBody>
      </p:sp>
      <p:sp>
        <p:nvSpPr>
          <p:cNvPr id="262" name="Google Shape;262;p8"/>
          <p:cNvSpPr/>
          <p:nvPr/>
        </p:nvSpPr>
        <p:spPr>
          <a:xfrm>
            <a:off x="7571232" y="1755648"/>
            <a:ext cx="1353312" cy="1298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7626096" y="1792224"/>
            <a:ext cx="1243584" cy="12252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Local LIME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SHAP vs LIME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Domain check</a:t>
            </a:r>
            <a:endParaRPr b="0" i="0" sz="950" u="none" cap="none" strike="noStrike">
              <a:solidFill>
                <a:schemeClr val="dk1"/>
              </a:solidFill>
              <a:latin typeface="Calibri"/>
              <a:ea typeface="Calibri"/>
              <a:cs typeface="Calibri"/>
              <a:sym typeface="Calibri"/>
            </a:endParaRPr>
          </a:p>
        </p:txBody>
      </p:sp>
      <p:sp>
        <p:nvSpPr>
          <p:cNvPr id="264" name="Google Shape;264;p8"/>
          <p:cNvSpPr/>
          <p:nvPr/>
        </p:nvSpPr>
        <p:spPr>
          <a:xfrm>
            <a:off x="411480" y="3200400"/>
            <a:ext cx="8339328" cy="1627632"/>
          </a:xfrm>
          <a:prstGeom prst="rect">
            <a:avLst/>
          </a:prstGeom>
          <a:solidFill>
            <a:srgbClr val="132038"/>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548640" y="3264408"/>
            <a:ext cx="1097280"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D4"/>
              </a:buClr>
              <a:buSzPts val="1100"/>
              <a:buFont typeface="Calibri"/>
              <a:buNone/>
            </a:pPr>
            <a:r>
              <a:rPr b="1" i="0" lang="en-US" sz="1100" u="none" cap="none" strike="noStrike">
                <a:solidFill>
                  <a:srgbClr val="00C2D4"/>
                </a:solidFill>
                <a:latin typeface="Calibri"/>
                <a:ea typeface="Calibri"/>
                <a:cs typeface="Calibri"/>
                <a:sym typeface="Calibri"/>
              </a:rPr>
              <a:t>Tools</a:t>
            </a:r>
            <a:endParaRPr b="0" i="0" sz="1100" u="none" cap="none" strike="noStrike">
              <a:solidFill>
                <a:schemeClr val="dk1"/>
              </a:solidFill>
              <a:latin typeface="Calibri"/>
              <a:ea typeface="Calibri"/>
              <a:cs typeface="Calibri"/>
              <a:sym typeface="Calibri"/>
            </a:endParaRPr>
          </a:p>
        </p:txBody>
      </p:sp>
      <p:sp>
        <p:nvSpPr>
          <p:cNvPr id="266" name="Google Shape;266;p8"/>
          <p:cNvSpPr/>
          <p:nvPr/>
        </p:nvSpPr>
        <p:spPr>
          <a:xfrm>
            <a:off x="56692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56692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Python 3.10</a:t>
            </a:r>
            <a:endParaRPr b="0" i="0" sz="1000" u="none" cap="none" strike="noStrike">
              <a:solidFill>
                <a:schemeClr val="dk1"/>
              </a:solidFill>
              <a:latin typeface="Calibri"/>
              <a:ea typeface="Calibri"/>
              <a:cs typeface="Calibri"/>
              <a:sym typeface="Calibri"/>
            </a:endParaRPr>
          </a:p>
        </p:txBody>
      </p:sp>
      <p:sp>
        <p:nvSpPr>
          <p:cNvPr id="268" name="Google Shape;268;p8"/>
          <p:cNvSpPr/>
          <p:nvPr/>
        </p:nvSpPr>
        <p:spPr>
          <a:xfrm>
            <a:off x="56692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Language</a:t>
            </a:r>
            <a:endParaRPr b="0" i="0" sz="900" u="none" cap="none" strike="noStrike">
              <a:solidFill>
                <a:schemeClr val="dk1"/>
              </a:solidFill>
              <a:latin typeface="Calibri"/>
              <a:ea typeface="Calibri"/>
              <a:cs typeface="Calibri"/>
              <a:sym typeface="Calibri"/>
            </a:endParaRPr>
          </a:p>
        </p:txBody>
      </p:sp>
      <p:sp>
        <p:nvSpPr>
          <p:cNvPr id="269" name="Google Shape;269;p8"/>
          <p:cNvSpPr/>
          <p:nvPr/>
        </p:nvSpPr>
        <p:spPr>
          <a:xfrm>
            <a:off x="198424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198424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scikit-learn</a:t>
            </a:r>
            <a:endParaRPr b="0" i="0" sz="1000" u="none" cap="none" strike="noStrike">
              <a:solidFill>
                <a:schemeClr val="dk1"/>
              </a:solidFill>
              <a:latin typeface="Calibri"/>
              <a:ea typeface="Calibri"/>
              <a:cs typeface="Calibri"/>
              <a:sym typeface="Calibri"/>
            </a:endParaRPr>
          </a:p>
        </p:txBody>
      </p:sp>
      <p:sp>
        <p:nvSpPr>
          <p:cNvPr id="271" name="Google Shape;271;p8"/>
          <p:cNvSpPr/>
          <p:nvPr/>
        </p:nvSpPr>
        <p:spPr>
          <a:xfrm>
            <a:off x="198424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ML Models</a:t>
            </a:r>
            <a:endParaRPr b="0" i="0" sz="900" u="none" cap="none" strike="noStrike">
              <a:solidFill>
                <a:schemeClr val="dk1"/>
              </a:solidFill>
              <a:latin typeface="Calibri"/>
              <a:ea typeface="Calibri"/>
              <a:cs typeface="Calibri"/>
              <a:sym typeface="Calibri"/>
            </a:endParaRPr>
          </a:p>
        </p:txBody>
      </p:sp>
      <p:sp>
        <p:nvSpPr>
          <p:cNvPr id="272" name="Google Shape;272;p8"/>
          <p:cNvSpPr/>
          <p:nvPr/>
        </p:nvSpPr>
        <p:spPr>
          <a:xfrm>
            <a:off x="340156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340156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XGBoost</a:t>
            </a:r>
            <a:endParaRPr b="0" i="0" sz="1000" u="none" cap="none" strike="noStrike">
              <a:solidFill>
                <a:schemeClr val="dk1"/>
              </a:solidFill>
              <a:latin typeface="Calibri"/>
              <a:ea typeface="Calibri"/>
              <a:cs typeface="Calibri"/>
              <a:sym typeface="Calibri"/>
            </a:endParaRPr>
          </a:p>
        </p:txBody>
      </p:sp>
      <p:sp>
        <p:nvSpPr>
          <p:cNvPr id="274" name="Google Shape;274;p8"/>
          <p:cNvSpPr/>
          <p:nvPr/>
        </p:nvSpPr>
        <p:spPr>
          <a:xfrm>
            <a:off x="340156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Boosting</a:t>
            </a:r>
            <a:endParaRPr b="0" i="0" sz="900" u="none" cap="none" strike="noStrike">
              <a:solidFill>
                <a:schemeClr val="dk1"/>
              </a:solidFill>
              <a:latin typeface="Calibri"/>
              <a:ea typeface="Calibri"/>
              <a:cs typeface="Calibri"/>
              <a:sym typeface="Calibri"/>
            </a:endParaRPr>
          </a:p>
        </p:txBody>
      </p:sp>
      <p:sp>
        <p:nvSpPr>
          <p:cNvPr id="275" name="Google Shape;275;p8"/>
          <p:cNvSpPr/>
          <p:nvPr/>
        </p:nvSpPr>
        <p:spPr>
          <a:xfrm>
            <a:off x="481888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481888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SHAP 0.44</a:t>
            </a:r>
            <a:endParaRPr b="0" i="0" sz="1000" u="none" cap="none" strike="noStrike">
              <a:solidFill>
                <a:schemeClr val="dk1"/>
              </a:solidFill>
              <a:latin typeface="Calibri"/>
              <a:ea typeface="Calibri"/>
              <a:cs typeface="Calibri"/>
              <a:sym typeface="Calibri"/>
            </a:endParaRPr>
          </a:p>
        </p:txBody>
      </p:sp>
      <p:sp>
        <p:nvSpPr>
          <p:cNvPr id="277" name="Google Shape;277;p8"/>
          <p:cNvSpPr/>
          <p:nvPr/>
        </p:nvSpPr>
        <p:spPr>
          <a:xfrm>
            <a:off x="481888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TreeExplainer</a:t>
            </a:r>
            <a:endParaRPr b="0" i="0" sz="900" u="none" cap="none" strike="noStrike">
              <a:solidFill>
                <a:schemeClr val="dk1"/>
              </a:solidFill>
              <a:latin typeface="Calibri"/>
              <a:ea typeface="Calibri"/>
              <a:cs typeface="Calibri"/>
              <a:sym typeface="Calibri"/>
            </a:endParaRPr>
          </a:p>
        </p:txBody>
      </p:sp>
      <p:sp>
        <p:nvSpPr>
          <p:cNvPr id="278" name="Google Shape;278;p8"/>
          <p:cNvSpPr/>
          <p:nvPr/>
        </p:nvSpPr>
        <p:spPr>
          <a:xfrm>
            <a:off x="623620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623620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LIME</a:t>
            </a:r>
            <a:endParaRPr b="0" i="0" sz="1000" u="none" cap="none" strike="noStrike">
              <a:solidFill>
                <a:schemeClr val="dk1"/>
              </a:solidFill>
              <a:latin typeface="Calibri"/>
              <a:ea typeface="Calibri"/>
              <a:cs typeface="Calibri"/>
              <a:sym typeface="Calibri"/>
            </a:endParaRPr>
          </a:p>
        </p:txBody>
      </p:sp>
      <p:sp>
        <p:nvSpPr>
          <p:cNvPr id="280" name="Google Shape;280;p8"/>
          <p:cNvSpPr/>
          <p:nvPr/>
        </p:nvSpPr>
        <p:spPr>
          <a:xfrm>
            <a:off x="623620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Validation</a:t>
            </a:r>
            <a:endParaRPr b="0" i="0" sz="900" u="none" cap="none" strike="noStrike">
              <a:solidFill>
                <a:schemeClr val="dk1"/>
              </a:solidFill>
              <a:latin typeface="Calibri"/>
              <a:ea typeface="Calibri"/>
              <a:cs typeface="Calibri"/>
              <a:sym typeface="Calibri"/>
            </a:endParaRPr>
          </a:p>
        </p:txBody>
      </p:sp>
      <p:sp>
        <p:nvSpPr>
          <p:cNvPr id="281" name="Google Shape;281;p8"/>
          <p:cNvSpPr/>
          <p:nvPr/>
        </p:nvSpPr>
        <p:spPr>
          <a:xfrm>
            <a:off x="7653528" y="3602736"/>
            <a:ext cx="1261872" cy="969264"/>
          </a:xfrm>
          <a:prstGeom prst="rect">
            <a:avLst/>
          </a:prstGeom>
          <a:solidFill>
            <a:srgbClr val="0A1628"/>
          </a:solidFill>
          <a:ln cap="flat" cmpd="sng" w="9525">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7653528" y="3639312"/>
            <a:ext cx="1261872"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Google Colab</a:t>
            </a:r>
            <a:endParaRPr b="0" i="0" sz="1000" u="none" cap="none" strike="noStrike">
              <a:solidFill>
                <a:schemeClr val="dk1"/>
              </a:solidFill>
              <a:latin typeface="Calibri"/>
              <a:ea typeface="Calibri"/>
              <a:cs typeface="Calibri"/>
              <a:sym typeface="Calibri"/>
            </a:endParaRPr>
          </a:p>
        </p:txBody>
      </p:sp>
      <p:sp>
        <p:nvSpPr>
          <p:cNvPr id="283" name="Google Shape;283;p8"/>
          <p:cNvSpPr/>
          <p:nvPr/>
        </p:nvSpPr>
        <p:spPr>
          <a:xfrm>
            <a:off x="7653528" y="4041648"/>
            <a:ext cx="1261872"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900"/>
              <a:buFont typeface="Calibri"/>
              <a:buNone/>
            </a:pPr>
            <a:r>
              <a:rPr b="0" i="0" lang="en-US" sz="900" u="none" cap="none" strike="noStrike">
                <a:solidFill>
                  <a:srgbClr val="00C2D4"/>
                </a:solidFill>
                <a:latin typeface="Calibri"/>
                <a:ea typeface="Calibri"/>
                <a:cs typeface="Calibri"/>
                <a:sym typeface="Calibri"/>
              </a:rPr>
              <a:t>Platform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288" name="Shape 288"/>
        <p:cNvGrpSpPr/>
        <p:nvPr/>
      </p:nvGrpSpPr>
      <p:grpSpPr>
        <a:xfrm>
          <a:off x="0" y="0"/>
          <a:ext cx="0" cy="0"/>
          <a:chOff x="0" y="0"/>
          <a:chExt cx="0" cy="0"/>
        </a:xfrm>
      </p:grpSpPr>
      <p:sp>
        <p:nvSpPr>
          <p:cNvPr id="289" name="Google Shape;289;p9"/>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XAI — SHAP</a:t>
            </a:r>
            <a:endParaRPr b="0" i="0" sz="850" u="none" cap="none" strike="noStrike">
              <a:solidFill>
                <a:schemeClr val="dk1"/>
              </a:solidFill>
              <a:latin typeface="Calibri"/>
              <a:ea typeface="Calibri"/>
              <a:cs typeface="Calibri"/>
              <a:sym typeface="Calibri"/>
            </a:endParaRPr>
          </a:p>
        </p:txBody>
      </p:sp>
      <p:sp>
        <p:nvSpPr>
          <p:cNvPr id="291" name="Google Shape;291;p9"/>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SHAP: How Model Predictions Become Explainable</a:t>
            </a:r>
            <a:endParaRPr b="0" i="0" sz="2500" u="none" cap="none" strike="noStrike">
              <a:solidFill>
                <a:schemeClr val="dk1"/>
              </a:solidFill>
              <a:latin typeface="Calibri"/>
              <a:ea typeface="Calibri"/>
              <a:cs typeface="Calibri"/>
              <a:sym typeface="Calibri"/>
            </a:endParaRPr>
          </a:p>
        </p:txBody>
      </p:sp>
      <p:sp>
        <p:nvSpPr>
          <p:cNvPr id="292" name="Google Shape;292;p9"/>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9 / 14</a:t>
            </a:r>
            <a:endParaRPr b="0" i="0" sz="900" u="none" cap="none" strike="noStrike">
              <a:solidFill>
                <a:schemeClr val="dk1"/>
              </a:solidFill>
              <a:latin typeface="Calibri"/>
              <a:ea typeface="Calibri"/>
              <a:cs typeface="Calibri"/>
              <a:sym typeface="Calibri"/>
            </a:endParaRPr>
          </a:p>
        </p:txBody>
      </p:sp>
      <p:sp>
        <p:nvSpPr>
          <p:cNvPr id="294" name="Google Shape;294;p9"/>
          <p:cNvSpPr/>
          <p:nvPr/>
        </p:nvSpPr>
        <p:spPr>
          <a:xfrm>
            <a:off x="411480" y="1261872"/>
            <a:ext cx="4041648" cy="3584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411480" y="1261872"/>
            <a:ext cx="4041648" cy="301752"/>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502920" y="1261872"/>
            <a:ext cx="393192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SHapley Additive exPlanations  ·  Lundberg &amp; Lee, NeurIPS 2017</a:t>
            </a:r>
            <a:endParaRPr b="0" i="0" sz="1050" u="none" cap="none" strike="noStrike">
              <a:solidFill>
                <a:schemeClr val="dk1"/>
              </a:solidFill>
              <a:latin typeface="Calibri"/>
              <a:ea typeface="Calibri"/>
              <a:cs typeface="Calibri"/>
              <a:sym typeface="Calibri"/>
            </a:endParaRPr>
          </a:p>
        </p:txBody>
      </p:sp>
      <p:sp>
        <p:nvSpPr>
          <p:cNvPr id="297" name="Google Shape;297;p9"/>
          <p:cNvSpPr/>
          <p:nvPr/>
        </p:nvSpPr>
        <p:spPr>
          <a:xfrm>
            <a:off x="530352" y="1682496"/>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749808" y="1664208"/>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Rooted in cooperative game theory: each feature is treated as a player whose fair contribution to the prediction is computed across all possible feature orderings</a:t>
            </a:r>
            <a:endParaRPr b="0" i="0" sz="950" u="none" cap="none" strike="noStrike">
              <a:solidFill>
                <a:schemeClr val="dk1"/>
              </a:solidFill>
              <a:latin typeface="Calibri"/>
              <a:ea typeface="Calibri"/>
              <a:cs typeface="Calibri"/>
              <a:sym typeface="Calibri"/>
            </a:endParaRPr>
          </a:p>
        </p:txBody>
      </p:sp>
      <p:sp>
        <p:nvSpPr>
          <p:cNvPr id="299" name="Google Shape;299;p9"/>
          <p:cNvSpPr/>
          <p:nvPr/>
        </p:nvSpPr>
        <p:spPr>
          <a:xfrm>
            <a:off x="530352" y="2148840"/>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749808" y="2130552"/>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Each feature receives a SHAP value = its contribution relative to the average model output (base value)</a:t>
            </a:r>
            <a:endParaRPr b="0" i="0" sz="950" u="none" cap="none" strike="noStrike">
              <a:solidFill>
                <a:schemeClr val="dk1"/>
              </a:solidFill>
              <a:latin typeface="Calibri"/>
              <a:ea typeface="Calibri"/>
              <a:cs typeface="Calibri"/>
              <a:sym typeface="Calibri"/>
            </a:endParaRPr>
          </a:p>
        </p:txBody>
      </p:sp>
      <p:sp>
        <p:nvSpPr>
          <p:cNvPr id="301" name="Google Shape;301;p9"/>
          <p:cNvSpPr/>
          <p:nvPr/>
        </p:nvSpPr>
        <p:spPr>
          <a:xfrm>
            <a:off x="530352" y="2615184"/>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749808" y="2596896"/>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All SHAP values for one prediction sum exactly to: prediction − base value (mathematically guaranteed)</a:t>
            </a:r>
            <a:endParaRPr b="0" i="0" sz="950" u="none" cap="none" strike="noStrike">
              <a:solidFill>
                <a:schemeClr val="dk1"/>
              </a:solidFill>
              <a:latin typeface="Calibri"/>
              <a:ea typeface="Calibri"/>
              <a:cs typeface="Calibri"/>
              <a:sym typeface="Calibri"/>
            </a:endParaRPr>
          </a:p>
        </p:txBody>
      </p:sp>
      <p:sp>
        <p:nvSpPr>
          <p:cNvPr id="303" name="Google Shape;303;p9"/>
          <p:cNvSpPr/>
          <p:nvPr/>
        </p:nvSpPr>
        <p:spPr>
          <a:xfrm>
            <a:off x="530352" y="3081528"/>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749808" y="3063240"/>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Positive SHAP values push prediction toward the class; negative values push away</a:t>
            </a:r>
            <a:endParaRPr b="0" i="0" sz="950" u="none" cap="none" strike="noStrike">
              <a:solidFill>
                <a:schemeClr val="dk1"/>
              </a:solidFill>
              <a:latin typeface="Calibri"/>
              <a:ea typeface="Calibri"/>
              <a:cs typeface="Calibri"/>
              <a:sym typeface="Calibri"/>
            </a:endParaRPr>
          </a:p>
        </p:txBody>
      </p:sp>
      <p:sp>
        <p:nvSpPr>
          <p:cNvPr id="305" name="Google Shape;305;p9"/>
          <p:cNvSpPr/>
          <p:nvPr/>
        </p:nvSpPr>
        <p:spPr>
          <a:xfrm>
            <a:off x="530352" y="3547872"/>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749808" y="3529584"/>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TreeSHAP computes exact Shapley values for Random Forest &amp; XGBoost in polynomial time — not approximations</a:t>
            </a:r>
            <a:endParaRPr b="0" i="0" sz="950" u="none" cap="none" strike="noStrike">
              <a:solidFill>
                <a:schemeClr val="dk1"/>
              </a:solidFill>
              <a:latin typeface="Calibri"/>
              <a:ea typeface="Calibri"/>
              <a:cs typeface="Calibri"/>
              <a:sym typeface="Calibri"/>
            </a:endParaRPr>
          </a:p>
        </p:txBody>
      </p:sp>
      <p:sp>
        <p:nvSpPr>
          <p:cNvPr id="307" name="Google Shape;307;p9"/>
          <p:cNvSpPr/>
          <p:nvPr/>
        </p:nvSpPr>
        <p:spPr>
          <a:xfrm>
            <a:off x="530352" y="4014216"/>
            <a:ext cx="155448" cy="155448"/>
          </a:xfrm>
          <a:prstGeom prst="ellipse">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749808" y="3995928"/>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Provides both global (all samples) and local (single prediction) explanations</a:t>
            </a:r>
            <a:endParaRPr b="0" i="0" sz="950" u="none" cap="none" strike="noStrike">
              <a:solidFill>
                <a:schemeClr val="dk1"/>
              </a:solidFill>
              <a:latin typeface="Calibri"/>
              <a:ea typeface="Calibri"/>
              <a:cs typeface="Calibri"/>
              <a:sym typeface="Calibri"/>
            </a:endParaRPr>
          </a:p>
        </p:txBody>
      </p:sp>
      <p:sp>
        <p:nvSpPr>
          <p:cNvPr id="309" name="Google Shape;309;p9"/>
          <p:cNvSpPr/>
          <p:nvPr/>
        </p:nvSpPr>
        <p:spPr>
          <a:xfrm>
            <a:off x="4645152" y="1261872"/>
            <a:ext cx="4114800" cy="358444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4645152" y="1261872"/>
            <a:ext cx="4114800" cy="301752"/>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4736592" y="1261872"/>
            <a:ext cx="4005072"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Waterfall Plot — DoS Sample Explained</a:t>
            </a:r>
            <a:endParaRPr b="0" i="0" sz="1050" u="none" cap="none" strike="noStrike">
              <a:solidFill>
                <a:schemeClr val="dk1"/>
              </a:solidFill>
              <a:latin typeface="Calibri"/>
              <a:ea typeface="Calibri"/>
              <a:cs typeface="Calibri"/>
              <a:sym typeface="Calibri"/>
            </a:endParaRPr>
          </a:p>
        </p:txBody>
      </p:sp>
      <p:sp>
        <p:nvSpPr>
          <p:cNvPr id="312" name="Google Shape;312;p9"/>
          <p:cNvSpPr/>
          <p:nvPr/>
        </p:nvSpPr>
        <p:spPr>
          <a:xfrm>
            <a:off x="4754880" y="1627632"/>
            <a:ext cx="38862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900"/>
              <a:buFont typeface="Calibri"/>
              <a:buNone/>
            </a:pPr>
            <a:r>
              <a:rPr b="0" i="1" lang="en-US" sz="900" u="none" cap="none" strike="noStrike">
                <a:solidFill>
                  <a:srgbClr val="8FA8B8"/>
                </a:solidFill>
                <a:latin typeface="Calibri"/>
                <a:ea typeface="Calibri"/>
                <a:cs typeface="Calibri"/>
                <a:sym typeface="Calibri"/>
              </a:rPr>
              <a:t>How each feature pushed the model toward 'DoS':</a:t>
            </a:r>
            <a:endParaRPr b="0" i="0" sz="900" u="none" cap="none" strike="noStrike">
              <a:solidFill>
                <a:schemeClr val="dk1"/>
              </a:solidFill>
              <a:latin typeface="Calibri"/>
              <a:ea typeface="Calibri"/>
              <a:cs typeface="Calibri"/>
              <a:sym typeface="Calibri"/>
            </a:endParaRPr>
          </a:p>
        </p:txBody>
      </p:sp>
      <p:sp>
        <p:nvSpPr>
          <p:cNvPr id="313" name="Google Shape;313;p9"/>
          <p:cNvSpPr/>
          <p:nvPr/>
        </p:nvSpPr>
        <p:spPr>
          <a:xfrm>
            <a:off x="4754880" y="1920240"/>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Baseline (avg output)</a:t>
            </a:r>
            <a:endParaRPr b="0" i="0" sz="900" u="none" cap="none" strike="noStrike">
              <a:solidFill>
                <a:schemeClr val="dk1"/>
              </a:solidFill>
              <a:latin typeface="Calibri"/>
              <a:ea typeface="Calibri"/>
              <a:cs typeface="Calibri"/>
              <a:sym typeface="Calibri"/>
            </a:endParaRPr>
          </a:p>
        </p:txBody>
      </p:sp>
      <p:sp>
        <p:nvSpPr>
          <p:cNvPr id="314" name="Google Shape;314;p9"/>
          <p:cNvSpPr/>
          <p:nvPr/>
        </p:nvSpPr>
        <p:spPr>
          <a:xfrm>
            <a:off x="8119872" y="1920240"/>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1" i="0" lang="en-US" sz="900" u="none" cap="none" strike="noStrike">
                <a:solidFill>
                  <a:srgbClr val="8FA8B8"/>
                </a:solidFill>
                <a:latin typeface="Calibri"/>
                <a:ea typeface="Calibri"/>
                <a:cs typeface="Calibri"/>
                <a:sym typeface="Calibri"/>
              </a:rPr>
              <a:t>0.30</a:t>
            </a:r>
            <a:endParaRPr b="0" i="0" sz="900" u="none" cap="none" strike="noStrike">
              <a:solidFill>
                <a:schemeClr val="dk1"/>
              </a:solidFill>
              <a:latin typeface="Calibri"/>
              <a:ea typeface="Calibri"/>
              <a:cs typeface="Calibri"/>
              <a:sym typeface="Calibri"/>
            </a:endParaRPr>
          </a:p>
        </p:txBody>
      </p:sp>
      <p:sp>
        <p:nvSpPr>
          <p:cNvPr id="315" name="Google Shape;315;p9"/>
          <p:cNvSpPr/>
          <p:nvPr/>
        </p:nvSpPr>
        <p:spPr>
          <a:xfrm>
            <a:off x="4754880" y="2322576"/>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src_bytes = 49132</a:t>
            </a:r>
            <a:endParaRPr b="0" i="0" sz="900" u="none" cap="none" strike="noStrike">
              <a:solidFill>
                <a:schemeClr val="dk1"/>
              </a:solidFill>
              <a:latin typeface="Calibri"/>
              <a:ea typeface="Calibri"/>
              <a:cs typeface="Calibri"/>
              <a:sym typeface="Calibri"/>
            </a:endParaRPr>
          </a:p>
        </p:txBody>
      </p:sp>
      <p:sp>
        <p:nvSpPr>
          <p:cNvPr id="316" name="Google Shape;316;p9"/>
          <p:cNvSpPr/>
          <p:nvPr/>
        </p:nvSpPr>
        <p:spPr>
          <a:xfrm>
            <a:off x="6656832" y="2368296"/>
            <a:ext cx="1691640" cy="23774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8119872" y="2322576"/>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F4444"/>
              </a:buClr>
              <a:buSzPts val="900"/>
              <a:buFont typeface="Calibri"/>
              <a:buNone/>
            </a:pPr>
            <a:r>
              <a:rPr b="1" i="0" lang="en-US" sz="900" u="none" cap="none" strike="noStrike">
                <a:solidFill>
                  <a:srgbClr val="EF4444"/>
                </a:solidFill>
                <a:latin typeface="Calibri"/>
                <a:ea typeface="Calibri"/>
                <a:cs typeface="Calibri"/>
                <a:sym typeface="Calibri"/>
              </a:rPr>
              <a:t>+0.42</a:t>
            </a:r>
            <a:endParaRPr b="0" i="0" sz="900" u="none" cap="none" strike="noStrike">
              <a:solidFill>
                <a:schemeClr val="dk1"/>
              </a:solidFill>
              <a:latin typeface="Calibri"/>
              <a:ea typeface="Calibri"/>
              <a:cs typeface="Calibri"/>
              <a:sym typeface="Calibri"/>
            </a:endParaRPr>
          </a:p>
        </p:txBody>
      </p:sp>
      <p:sp>
        <p:nvSpPr>
          <p:cNvPr id="318" name="Google Shape;318;p9"/>
          <p:cNvSpPr/>
          <p:nvPr/>
        </p:nvSpPr>
        <p:spPr>
          <a:xfrm>
            <a:off x="4754880" y="2724912"/>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count = 511</a:t>
            </a:r>
            <a:endParaRPr b="0" i="0" sz="900" u="none" cap="none" strike="noStrike">
              <a:solidFill>
                <a:schemeClr val="dk1"/>
              </a:solidFill>
              <a:latin typeface="Calibri"/>
              <a:ea typeface="Calibri"/>
              <a:cs typeface="Calibri"/>
              <a:sym typeface="Calibri"/>
            </a:endParaRPr>
          </a:p>
        </p:txBody>
      </p:sp>
      <p:sp>
        <p:nvSpPr>
          <p:cNvPr id="319" name="Google Shape;319;p9"/>
          <p:cNvSpPr/>
          <p:nvPr/>
        </p:nvSpPr>
        <p:spPr>
          <a:xfrm>
            <a:off x="6656832" y="2770632"/>
            <a:ext cx="1170432" cy="23774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8119872" y="2724912"/>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F4444"/>
              </a:buClr>
              <a:buSzPts val="900"/>
              <a:buFont typeface="Calibri"/>
              <a:buNone/>
            </a:pPr>
            <a:r>
              <a:rPr b="1" i="0" lang="en-US" sz="900" u="none" cap="none" strike="noStrike">
                <a:solidFill>
                  <a:srgbClr val="EF4444"/>
                </a:solidFill>
                <a:latin typeface="Calibri"/>
                <a:ea typeface="Calibri"/>
                <a:cs typeface="Calibri"/>
                <a:sym typeface="Calibri"/>
              </a:rPr>
              <a:t>+0.28</a:t>
            </a:r>
            <a:endParaRPr b="0" i="0" sz="900" u="none" cap="none" strike="noStrike">
              <a:solidFill>
                <a:schemeClr val="dk1"/>
              </a:solidFill>
              <a:latin typeface="Calibri"/>
              <a:ea typeface="Calibri"/>
              <a:cs typeface="Calibri"/>
              <a:sym typeface="Calibri"/>
            </a:endParaRPr>
          </a:p>
        </p:txBody>
      </p:sp>
      <p:sp>
        <p:nvSpPr>
          <p:cNvPr id="321" name="Google Shape;321;p9"/>
          <p:cNvSpPr/>
          <p:nvPr/>
        </p:nvSpPr>
        <p:spPr>
          <a:xfrm>
            <a:off x="4754880" y="3127248"/>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serror_rate = 1.0</a:t>
            </a:r>
            <a:endParaRPr b="0" i="0" sz="900" u="none" cap="none" strike="noStrike">
              <a:solidFill>
                <a:schemeClr val="dk1"/>
              </a:solidFill>
              <a:latin typeface="Calibri"/>
              <a:ea typeface="Calibri"/>
              <a:cs typeface="Calibri"/>
              <a:sym typeface="Calibri"/>
            </a:endParaRPr>
          </a:p>
        </p:txBody>
      </p:sp>
      <p:sp>
        <p:nvSpPr>
          <p:cNvPr id="322" name="Google Shape;322;p9"/>
          <p:cNvSpPr/>
          <p:nvPr/>
        </p:nvSpPr>
        <p:spPr>
          <a:xfrm>
            <a:off x="6656832" y="3172968"/>
            <a:ext cx="640080" cy="237744"/>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8119872" y="3127248"/>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F4444"/>
              </a:buClr>
              <a:buSzPts val="900"/>
              <a:buFont typeface="Calibri"/>
              <a:buNone/>
            </a:pPr>
            <a:r>
              <a:rPr b="1" i="0" lang="en-US" sz="900" u="none" cap="none" strike="noStrike">
                <a:solidFill>
                  <a:srgbClr val="EF4444"/>
                </a:solidFill>
                <a:latin typeface="Calibri"/>
                <a:ea typeface="Calibri"/>
                <a:cs typeface="Calibri"/>
                <a:sym typeface="Calibri"/>
              </a:rPr>
              <a:t>+0.15</a:t>
            </a:r>
            <a:endParaRPr b="0" i="0" sz="900" u="none" cap="none" strike="noStrike">
              <a:solidFill>
                <a:schemeClr val="dk1"/>
              </a:solidFill>
              <a:latin typeface="Calibri"/>
              <a:ea typeface="Calibri"/>
              <a:cs typeface="Calibri"/>
              <a:sym typeface="Calibri"/>
            </a:endParaRPr>
          </a:p>
        </p:txBody>
      </p:sp>
      <p:sp>
        <p:nvSpPr>
          <p:cNvPr id="324" name="Google Shape;324;p9"/>
          <p:cNvSpPr/>
          <p:nvPr/>
        </p:nvSpPr>
        <p:spPr>
          <a:xfrm>
            <a:off x="4754880" y="3529584"/>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logged_in = 0</a:t>
            </a:r>
            <a:endParaRPr b="0" i="0" sz="900" u="none" cap="none" strike="noStrike">
              <a:solidFill>
                <a:schemeClr val="dk1"/>
              </a:solidFill>
              <a:latin typeface="Calibri"/>
              <a:ea typeface="Calibri"/>
              <a:cs typeface="Calibri"/>
              <a:sym typeface="Calibri"/>
            </a:endParaRPr>
          </a:p>
        </p:txBody>
      </p:sp>
      <p:sp>
        <p:nvSpPr>
          <p:cNvPr id="325" name="Google Shape;325;p9"/>
          <p:cNvSpPr/>
          <p:nvPr/>
        </p:nvSpPr>
        <p:spPr>
          <a:xfrm>
            <a:off x="6309360" y="3575304"/>
            <a:ext cx="347472" cy="23774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8119872" y="3529584"/>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−0.08</a:t>
            </a:r>
            <a:endParaRPr b="0" i="0" sz="900" u="none" cap="none" strike="noStrike">
              <a:solidFill>
                <a:schemeClr val="dk1"/>
              </a:solidFill>
              <a:latin typeface="Calibri"/>
              <a:ea typeface="Calibri"/>
              <a:cs typeface="Calibri"/>
              <a:sym typeface="Calibri"/>
            </a:endParaRPr>
          </a:p>
        </p:txBody>
      </p:sp>
      <p:sp>
        <p:nvSpPr>
          <p:cNvPr id="327" name="Google Shape;327;p9"/>
          <p:cNvSpPr/>
          <p:nvPr/>
        </p:nvSpPr>
        <p:spPr>
          <a:xfrm>
            <a:off x="4754880" y="3931920"/>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duration = 0</a:t>
            </a:r>
            <a:endParaRPr b="0" i="0" sz="900" u="none" cap="none" strike="noStrike">
              <a:solidFill>
                <a:schemeClr val="dk1"/>
              </a:solidFill>
              <a:latin typeface="Calibri"/>
              <a:ea typeface="Calibri"/>
              <a:cs typeface="Calibri"/>
              <a:sym typeface="Calibri"/>
            </a:endParaRPr>
          </a:p>
        </p:txBody>
      </p:sp>
      <p:sp>
        <p:nvSpPr>
          <p:cNvPr id="328" name="Google Shape;328;p9"/>
          <p:cNvSpPr/>
          <p:nvPr/>
        </p:nvSpPr>
        <p:spPr>
          <a:xfrm>
            <a:off x="6400800" y="3977640"/>
            <a:ext cx="256032" cy="237744"/>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8119872" y="3931920"/>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−0.06</a:t>
            </a:r>
            <a:endParaRPr b="0" i="0" sz="900" u="none" cap="none" strike="noStrike">
              <a:solidFill>
                <a:schemeClr val="dk1"/>
              </a:solidFill>
              <a:latin typeface="Calibri"/>
              <a:ea typeface="Calibri"/>
              <a:cs typeface="Calibri"/>
              <a:sym typeface="Calibri"/>
            </a:endParaRPr>
          </a:p>
        </p:txBody>
      </p:sp>
      <p:sp>
        <p:nvSpPr>
          <p:cNvPr id="330" name="Google Shape;330;p9"/>
          <p:cNvSpPr/>
          <p:nvPr/>
        </p:nvSpPr>
        <p:spPr>
          <a:xfrm>
            <a:off x="4754880" y="4334256"/>
            <a:ext cx="1874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Final prediction: DoS</a:t>
            </a:r>
            <a:endParaRPr b="0" i="0" sz="900" u="none" cap="none" strike="noStrike">
              <a:solidFill>
                <a:schemeClr val="dk1"/>
              </a:solidFill>
              <a:latin typeface="Calibri"/>
              <a:ea typeface="Calibri"/>
              <a:cs typeface="Calibri"/>
              <a:sym typeface="Calibri"/>
            </a:endParaRPr>
          </a:p>
        </p:txBody>
      </p:sp>
      <p:sp>
        <p:nvSpPr>
          <p:cNvPr id="331" name="Google Shape;331;p9"/>
          <p:cNvSpPr/>
          <p:nvPr/>
        </p:nvSpPr>
        <p:spPr>
          <a:xfrm>
            <a:off x="8119872" y="4334256"/>
            <a:ext cx="566928"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1" i="0" lang="en-US" sz="900" u="none" cap="none" strike="noStrike">
                <a:solidFill>
                  <a:srgbClr val="8FA8B8"/>
                </a:solidFill>
                <a:latin typeface="Calibri"/>
                <a:ea typeface="Calibri"/>
                <a:cs typeface="Calibri"/>
                <a:sym typeface="Calibri"/>
              </a:rPr>
              <a:t>0.90</a:t>
            </a:r>
            <a:endParaRPr b="0" i="0" sz="900" u="none" cap="none" strike="noStrike">
              <a:solidFill>
                <a:schemeClr val="dk1"/>
              </a:solidFill>
              <a:latin typeface="Calibri"/>
              <a:ea typeface="Calibri"/>
              <a:cs typeface="Calibri"/>
              <a:sym typeface="Calibri"/>
            </a:endParaRPr>
          </a:p>
        </p:txBody>
      </p:sp>
      <p:sp>
        <p:nvSpPr>
          <p:cNvPr id="332" name="Google Shape;332;p9"/>
          <p:cNvSpPr/>
          <p:nvPr/>
        </p:nvSpPr>
        <p:spPr>
          <a:xfrm>
            <a:off x="4754880" y="4718304"/>
            <a:ext cx="393192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00"/>
              <a:buFont typeface="Calibri"/>
              <a:buNone/>
            </a:pPr>
            <a:r>
              <a:rPr b="0" i="1" lang="en-US" sz="800" u="none" cap="none" strike="noStrike">
                <a:solidFill>
                  <a:srgbClr val="8FA8B8"/>
                </a:solidFill>
                <a:latin typeface="Calibri"/>
                <a:ea typeface="Calibri"/>
                <a:cs typeface="Calibri"/>
                <a:sym typeface="Calibri"/>
              </a:rPr>
              <a:t>Red bars → push toward DoS     Blue bars → push away</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337" name="Shape 337"/>
        <p:cNvGrpSpPr/>
        <p:nvPr/>
      </p:nvGrpSpPr>
      <p:grpSpPr>
        <a:xfrm>
          <a:off x="0" y="0"/>
          <a:ext cx="0" cy="0"/>
          <a:chOff x="0" y="0"/>
          <a:chExt cx="0" cy="0"/>
        </a:xfrm>
      </p:grpSpPr>
      <p:sp>
        <p:nvSpPr>
          <p:cNvPr id="338" name="Google Shape;338;p10"/>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XAI — LIME</a:t>
            </a:r>
            <a:endParaRPr b="0" i="0" sz="850" u="none" cap="none" strike="noStrike">
              <a:solidFill>
                <a:schemeClr val="dk1"/>
              </a:solidFill>
              <a:latin typeface="Calibri"/>
              <a:ea typeface="Calibri"/>
              <a:cs typeface="Calibri"/>
              <a:sym typeface="Calibri"/>
            </a:endParaRPr>
          </a:p>
        </p:txBody>
      </p:sp>
      <p:sp>
        <p:nvSpPr>
          <p:cNvPr id="340" name="Google Shape;340;p10"/>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LIME as Validation: Cross-Method Agreement on Feature Importance</a:t>
            </a:r>
            <a:endParaRPr b="0" i="0" sz="2500" u="none" cap="none" strike="noStrike">
              <a:solidFill>
                <a:schemeClr val="dk1"/>
              </a:solidFill>
              <a:latin typeface="Calibri"/>
              <a:ea typeface="Calibri"/>
              <a:cs typeface="Calibri"/>
              <a:sym typeface="Calibri"/>
            </a:endParaRPr>
          </a:p>
        </p:txBody>
      </p:sp>
      <p:sp>
        <p:nvSpPr>
          <p:cNvPr id="341" name="Google Shape;341;p10"/>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10 / 14</a:t>
            </a:r>
            <a:endParaRPr b="0" i="0" sz="900" u="none" cap="none" strike="noStrike">
              <a:solidFill>
                <a:schemeClr val="dk1"/>
              </a:solidFill>
              <a:latin typeface="Calibri"/>
              <a:ea typeface="Calibri"/>
              <a:cs typeface="Calibri"/>
              <a:sym typeface="Calibri"/>
            </a:endParaRPr>
          </a:p>
        </p:txBody>
      </p:sp>
      <p:sp>
        <p:nvSpPr>
          <p:cNvPr id="343" name="Google Shape;343;p10"/>
          <p:cNvSpPr/>
          <p:nvPr/>
        </p:nvSpPr>
        <p:spPr>
          <a:xfrm>
            <a:off x="411480" y="1261872"/>
            <a:ext cx="4041648" cy="237744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0"/>
          <p:cNvSpPr/>
          <p:nvPr/>
        </p:nvSpPr>
        <p:spPr>
          <a:xfrm>
            <a:off x="411480" y="1261872"/>
            <a:ext cx="4041648" cy="301752"/>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502920" y="1261872"/>
            <a:ext cx="393192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LIME — Local Interpretable Model-Agnostic Explanations</a:t>
            </a:r>
            <a:endParaRPr b="0" i="0" sz="1050" u="none" cap="none" strike="noStrike">
              <a:solidFill>
                <a:schemeClr val="dk1"/>
              </a:solidFill>
              <a:latin typeface="Calibri"/>
              <a:ea typeface="Calibri"/>
              <a:cs typeface="Calibri"/>
              <a:sym typeface="Calibri"/>
            </a:endParaRPr>
          </a:p>
        </p:txBody>
      </p:sp>
      <p:sp>
        <p:nvSpPr>
          <p:cNvPr id="346" name="Google Shape;346;p10"/>
          <p:cNvSpPr/>
          <p:nvPr/>
        </p:nvSpPr>
        <p:spPr>
          <a:xfrm>
            <a:off x="530352" y="1682496"/>
            <a:ext cx="137160" cy="13716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a:off x="731520" y="1664208"/>
            <a:ext cx="3611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Perturbs input features randomly around one sample and observes how predictions change</a:t>
            </a:r>
            <a:endParaRPr b="0" i="0" sz="950" u="none" cap="none" strike="noStrike">
              <a:solidFill>
                <a:schemeClr val="dk1"/>
              </a:solidFill>
              <a:latin typeface="Calibri"/>
              <a:ea typeface="Calibri"/>
              <a:cs typeface="Calibri"/>
              <a:sym typeface="Calibri"/>
            </a:endParaRPr>
          </a:p>
        </p:txBody>
      </p:sp>
      <p:sp>
        <p:nvSpPr>
          <p:cNvPr id="348" name="Google Shape;348;p10"/>
          <p:cNvSpPr/>
          <p:nvPr/>
        </p:nvSpPr>
        <p:spPr>
          <a:xfrm>
            <a:off x="530352" y="2048256"/>
            <a:ext cx="137160" cy="13716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731520" y="2029968"/>
            <a:ext cx="3611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Fits a simple local linear model — the coefficients represent feature importance for that prediction</a:t>
            </a:r>
            <a:endParaRPr b="0" i="0" sz="950" u="none" cap="none" strike="noStrike">
              <a:solidFill>
                <a:schemeClr val="dk1"/>
              </a:solidFill>
              <a:latin typeface="Calibri"/>
              <a:ea typeface="Calibri"/>
              <a:cs typeface="Calibri"/>
              <a:sym typeface="Calibri"/>
            </a:endParaRPr>
          </a:p>
        </p:txBody>
      </p:sp>
      <p:sp>
        <p:nvSpPr>
          <p:cNvPr id="350" name="Google Shape;350;p10"/>
          <p:cNvSpPr/>
          <p:nvPr/>
        </p:nvSpPr>
        <p:spPr>
          <a:xfrm>
            <a:off x="530352" y="2414016"/>
            <a:ext cx="137160" cy="13716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p:nvPr/>
        </p:nvSpPr>
        <p:spPr>
          <a:xfrm>
            <a:off x="731520" y="2395728"/>
            <a:ext cx="3611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Model-agnostic: works with any classifier regardless of architecture</a:t>
            </a:r>
            <a:endParaRPr b="0" i="0" sz="950" u="none" cap="none" strike="noStrike">
              <a:solidFill>
                <a:schemeClr val="dk1"/>
              </a:solidFill>
              <a:latin typeface="Calibri"/>
              <a:ea typeface="Calibri"/>
              <a:cs typeface="Calibri"/>
              <a:sym typeface="Calibri"/>
            </a:endParaRPr>
          </a:p>
        </p:txBody>
      </p:sp>
      <p:sp>
        <p:nvSpPr>
          <p:cNvPr id="352" name="Google Shape;352;p10"/>
          <p:cNvSpPr/>
          <p:nvPr/>
        </p:nvSpPr>
        <p:spPr>
          <a:xfrm>
            <a:off x="530352" y="2779776"/>
            <a:ext cx="137160" cy="13716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731520" y="2761488"/>
            <a:ext cx="3611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Known limitation: unstable across different random seeds, no theoretical consistency guarantees</a:t>
            </a:r>
            <a:endParaRPr b="0" i="0" sz="950" u="none" cap="none" strike="noStrike">
              <a:solidFill>
                <a:schemeClr val="dk1"/>
              </a:solidFill>
              <a:latin typeface="Calibri"/>
              <a:ea typeface="Calibri"/>
              <a:cs typeface="Calibri"/>
              <a:sym typeface="Calibri"/>
            </a:endParaRPr>
          </a:p>
        </p:txBody>
      </p:sp>
      <p:sp>
        <p:nvSpPr>
          <p:cNvPr id="354" name="Google Shape;354;p10"/>
          <p:cNvSpPr/>
          <p:nvPr/>
        </p:nvSpPr>
        <p:spPr>
          <a:xfrm>
            <a:off x="530352" y="3145536"/>
            <a:ext cx="137160" cy="137160"/>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p:nvPr/>
        </p:nvSpPr>
        <p:spPr>
          <a:xfrm>
            <a:off x="731520" y="3127248"/>
            <a:ext cx="36118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Role in this thesis: secondary validation tool — not the primary method</a:t>
            </a:r>
            <a:endParaRPr b="0" i="0" sz="950" u="none" cap="none" strike="noStrike">
              <a:solidFill>
                <a:schemeClr val="dk1"/>
              </a:solidFill>
              <a:latin typeface="Calibri"/>
              <a:ea typeface="Calibri"/>
              <a:cs typeface="Calibri"/>
              <a:sym typeface="Calibri"/>
            </a:endParaRPr>
          </a:p>
        </p:txBody>
      </p:sp>
      <p:sp>
        <p:nvSpPr>
          <p:cNvPr id="356" name="Google Shape;356;p10"/>
          <p:cNvSpPr/>
          <p:nvPr/>
        </p:nvSpPr>
        <p:spPr>
          <a:xfrm>
            <a:off x="4645152" y="1261872"/>
            <a:ext cx="4114800" cy="237744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p:nvPr/>
        </p:nvSpPr>
        <p:spPr>
          <a:xfrm>
            <a:off x="4645152" y="1261872"/>
            <a:ext cx="4114800" cy="301752"/>
          </a:xfrm>
          <a:prstGeom prst="rect">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4736592" y="1261872"/>
            <a:ext cx="4005072"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SHAP vs LIME — Method Comparison</a:t>
            </a:r>
            <a:endParaRPr b="0" i="0" sz="1050" u="none" cap="none" strike="noStrike">
              <a:solidFill>
                <a:schemeClr val="dk1"/>
              </a:solidFill>
              <a:latin typeface="Calibri"/>
              <a:ea typeface="Calibri"/>
              <a:cs typeface="Calibri"/>
              <a:sym typeface="Calibri"/>
            </a:endParaRPr>
          </a:p>
        </p:txBody>
      </p:sp>
      <p:sp>
        <p:nvSpPr>
          <p:cNvPr id="359" name="Google Shape;359;p10"/>
          <p:cNvSpPr/>
          <p:nvPr/>
        </p:nvSpPr>
        <p:spPr>
          <a:xfrm>
            <a:off x="4754880" y="1682496"/>
            <a:ext cx="1371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Theoretical basis</a:t>
            </a:r>
            <a:endParaRPr b="0" i="0" sz="950" u="none" cap="none" strike="noStrike">
              <a:solidFill>
                <a:schemeClr val="dk1"/>
              </a:solidFill>
              <a:latin typeface="Calibri"/>
              <a:ea typeface="Calibri"/>
              <a:cs typeface="Calibri"/>
              <a:sym typeface="Calibri"/>
            </a:endParaRPr>
          </a:p>
        </p:txBody>
      </p:sp>
      <p:sp>
        <p:nvSpPr>
          <p:cNvPr id="360" name="Google Shape;360;p10"/>
          <p:cNvSpPr/>
          <p:nvPr/>
        </p:nvSpPr>
        <p:spPr>
          <a:xfrm>
            <a:off x="6144768" y="1682496"/>
            <a:ext cx="1298448"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Shapley axioms — guaranteed</a:t>
            </a:r>
            <a:endParaRPr b="0" i="0" sz="950" u="none" cap="none" strike="noStrike">
              <a:solidFill>
                <a:schemeClr val="dk1"/>
              </a:solidFill>
              <a:latin typeface="Calibri"/>
              <a:ea typeface="Calibri"/>
              <a:cs typeface="Calibri"/>
              <a:sym typeface="Calibri"/>
            </a:endParaRPr>
          </a:p>
        </p:txBody>
      </p:sp>
      <p:sp>
        <p:nvSpPr>
          <p:cNvPr id="361" name="Google Shape;361;p10"/>
          <p:cNvSpPr/>
          <p:nvPr/>
        </p:nvSpPr>
        <p:spPr>
          <a:xfrm>
            <a:off x="7452360" y="1682496"/>
            <a:ext cx="123444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1B1B"/>
              </a:buClr>
              <a:buSzPts val="950"/>
              <a:buFont typeface="Calibri"/>
              <a:buNone/>
            </a:pPr>
            <a:r>
              <a:rPr b="0" i="0" lang="en-US" sz="950" u="none" cap="none" strike="noStrike">
                <a:solidFill>
                  <a:srgbClr val="991B1B"/>
                </a:solidFill>
                <a:latin typeface="Calibri"/>
                <a:ea typeface="Calibri"/>
                <a:cs typeface="Calibri"/>
                <a:sym typeface="Calibri"/>
              </a:rPr>
              <a:t>❌ No formal guarantee</a:t>
            </a:r>
            <a:endParaRPr b="0" i="0" sz="950" u="none" cap="none" strike="noStrike">
              <a:solidFill>
                <a:schemeClr val="dk1"/>
              </a:solidFill>
              <a:latin typeface="Calibri"/>
              <a:ea typeface="Calibri"/>
              <a:cs typeface="Calibri"/>
              <a:sym typeface="Calibri"/>
            </a:endParaRPr>
          </a:p>
        </p:txBody>
      </p:sp>
      <p:sp>
        <p:nvSpPr>
          <p:cNvPr id="362" name="Google Shape;362;p10"/>
          <p:cNvSpPr/>
          <p:nvPr/>
        </p:nvSpPr>
        <p:spPr>
          <a:xfrm>
            <a:off x="4754880" y="2029968"/>
            <a:ext cx="1371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Global explanation</a:t>
            </a:r>
            <a:endParaRPr b="0" i="0" sz="950" u="none" cap="none" strike="noStrike">
              <a:solidFill>
                <a:schemeClr val="dk1"/>
              </a:solidFill>
              <a:latin typeface="Calibri"/>
              <a:ea typeface="Calibri"/>
              <a:cs typeface="Calibri"/>
              <a:sym typeface="Calibri"/>
            </a:endParaRPr>
          </a:p>
        </p:txBody>
      </p:sp>
      <p:sp>
        <p:nvSpPr>
          <p:cNvPr id="363" name="Google Shape;363;p10"/>
          <p:cNvSpPr/>
          <p:nvPr/>
        </p:nvSpPr>
        <p:spPr>
          <a:xfrm>
            <a:off x="6144768" y="2029968"/>
            <a:ext cx="1298448"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Summary across all samples</a:t>
            </a:r>
            <a:endParaRPr b="0" i="0" sz="950" u="none" cap="none" strike="noStrike">
              <a:solidFill>
                <a:schemeClr val="dk1"/>
              </a:solidFill>
              <a:latin typeface="Calibri"/>
              <a:ea typeface="Calibri"/>
              <a:cs typeface="Calibri"/>
              <a:sym typeface="Calibri"/>
            </a:endParaRPr>
          </a:p>
        </p:txBody>
      </p:sp>
      <p:sp>
        <p:nvSpPr>
          <p:cNvPr id="364" name="Google Shape;364;p10"/>
          <p:cNvSpPr/>
          <p:nvPr/>
        </p:nvSpPr>
        <p:spPr>
          <a:xfrm>
            <a:off x="7452360" y="2029968"/>
            <a:ext cx="123444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1B1B"/>
              </a:buClr>
              <a:buSzPts val="950"/>
              <a:buFont typeface="Calibri"/>
              <a:buNone/>
            </a:pPr>
            <a:r>
              <a:rPr b="0" i="0" lang="en-US" sz="950" u="none" cap="none" strike="noStrike">
                <a:solidFill>
                  <a:srgbClr val="991B1B"/>
                </a:solidFill>
                <a:latin typeface="Calibri"/>
                <a:ea typeface="Calibri"/>
                <a:cs typeface="Calibri"/>
                <a:sym typeface="Calibri"/>
              </a:rPr>
              <a:t>❌ Local predictions only</a:t>
            </a:r>
            <a:endParaRPr b="0" i="0" sz="950" u="none" cap="none" strike="noStrike">
              <a:solidFill>
                <a:schemeClr val="dk1"/>
              </a:solidFill>
              <a:latin typeface="Calibri"/>
              <a:ea typeface="Calibri"/>
              <a:cs typeface="Calibri"/>
              <a:sym typeface="Calibri"/>
            </a:endParaRPr>
          </a:p>
        </p:txBody>
      </p:sp>
      <p:sp>
        <p:nvSpPr>
          <p:cNvPr id="365" name="Google Shape;365;p10"/>
          <p:cNvSpPr/>
          <p:nvPr/>
        </p:nvSpPr>
        <p:spPr>
          <a:xfrm>
            <a:off x="4754880" y="2377440"/>
            <a:ext cx="1371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Stability</a:t>
            </a:r>
            <a:endParaRPr b="0" i="0" sz="950" u="none" cap="none" strike="noStrike">
              <a:solidFill>
                <a:schemeClr val="dk1"/>
              </a:solidFill>
              <a:latin typeface="Calibri"/>
              <a:ea typeface="Calibri"/>
              <a:cs typeface="Calibri"/>
              <a:sym typeface="Calibri"/>
            </a:endParaRPr>
          </a:p>
        </p:txBody>
      </p:sp>
      <p:sp>
        <p:nvSpPr>
          <p:cNvPr id="366" name="Google Shape;366;p10"/>
          <p:cNvSpPr/>
          <p:nvPr/>
        </p:nvSpPr>
        <p:spPr>
          <a:xfrm>
            <a:off x="6144768" y="2377440"/>
            <a:ext cx="1298448"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Deterministic output</a:t>
            </a:r>
            <a:endParaRPr b="0" i="0" sz="950" u="none" cap="none" strike="noStrike">
              <a:solidFill>
                <a:schemeClr val="dk1"/>
              </a:solidFill>
              <a:latin typeface="Calibri"/>
              <a:ea typeface="Calibri"/>
              <a:cs typeface="Calibri"/>
              <a:sym typeface="Calibri"/>
            </a:endParaRPr>
          </a:p>
        </p:txBody>
      </p:sp>
      <p:sp>
        <p:nvSpPr>
          <p:cNvPr id="367" name="Google Shape;367;p10"/>
          <p:cNvSpPr/>
          <p:nvPr/>
        </p:nvSpPr>
        <p:spPr>
          <a:xfrm>
            <a:off x="7452360" y="2377440"/>
            <a:ext cx="123444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1B1B"/>
              </a:buClr>
              <a:buSzPts val="950"/>
              <a:buFont typeface="Calibri"/>
              <a:buNone/>
            </a:pPr>
            <a:r>
              <a:rPr b="0" i="0" lang="en-US" sz="950" u="none" cap="none" strike="noStrike">
                <a:solidFill>
                  <a:srgbClr val="991B1B"/>
                </a:solidFill>
                <a:latin typeface="Calibri"/>
                <a:ea typeface="Calibri"/>
                <a:cs typeface="Calibri"/>
                <a:sym typeface="Calibri"/>
              </a:rPr>
              <a:t>⚠️ Varies with random seed</a:t>
            </a:r>
            <a:endParaRPr b="0" i="0" sz="950" u="none" cap="none" strike="noStrike">
              <a:solidFill>
                <a:schemeClr val="dk1"/>
              </a:solidFill>
              <a:latin typeface="Calibri"/>
              <a:ea typeface="Calibri"/>
              <a:cs typeface="Calibri"/>
              <a:sym typeface="Calibri"/>
            </a:endParaRPr>
          </a:p>
        </p:txBody>
      </p:sp>
      <p:sp>
        <p:nvSpPr>
          <p:cNvPr id="368" name="Google Shape;368;p10"/>
          <p:cNvSpPr/>
          <p:nvPr/>
        </p:nvSpPr>
        <p:spPr>
          <a:xfrm>
            <a:off x="4754880" y="2724912"/>
            <a:ext cx="1371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Tree models</a:t>
            </a:r>
            <a:endParaRPr b="0" i="0" sz="950" u="none" cap="none" strike="noStrike">
              <a:solidFill>
                <a:schemeClr val="dk1"/>
              </a:solidFill>
              <a:latin typeface="Calibri"/>
              <a:ea typeface="Calibri"/>
              <a:cs typeface="Calibri"/>
              <a:sym typeface="Calibri"/>
            </a:endParaRPr>
          </a:p>
        </p:txBody>
      </p:sp>
      <p:sp>
        <p:nvSpPr>
          <p:cNvPr id="369" name="Google Shape;369;p10"/>
          <p:cNvSpPr/>
          <p:nvPr/>
        </p:nvSpPr>
        <p:spPr>
          <a:xfrm>
            <a:off x="6144768" y="2724912"/>
            <a:ext cx="1298448"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Exact values (TreeSHAP)</a:t>
            </a:r>
            <a:endParaRPr b="0" i="0" sz="950" u="none" cap="none" strike="noStrike">
              <a:solidFill>
                <a:schemeClr val="dk1"/>
              </a:solidFill>
              <a:latin typeface="Calibri"/>
              <a:ea typeface="Calibri"/>
              <a:cs typeface="Calibri"/>
              <a:sym typeface="Calibri"/>
            </a:endParaRPr>
          </a:p>
        </p:txBody>
      </p:sp>
      <p:sp>
        <p:nvSpPr>
          <p:cNvPr id="370" name="Google Shape;370;p10"/>
          <p:cNvSpPr/>
          <p:nvPr/>
        </p:nvSpPr>
        <p:spPr>
          <a:xfrm>
            <a:off x="7452360" y="2724912"/>
            <a:ext cx="123444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1B1B"/>
              </a:buClr>
              <a:buSzPts val="950"/>
              <a:buFont typeface="Calibri"/>
              <a:buNone/>
            </a:pPr>
            <a:r>
              <a:rPr b="0" i="0" lang="en-US" sz="950" u="none" cap="none" strike="noStrike">
                <a:solidFill>
                  <a:srgbClr val="991B1B"/>
                </a:solidFill>
                <a:latin typeface="Calibri"/>
                <a:ea typeface="Calibri"/>
                <a:cs typeface="Calibri"/>
                <a:sym typeface="Calibri"/>
              </a:rPr>
              <a:t>❌ Approximate perturbation</a:t>
            </a:r>
            <a:endParaRPr b="0" i="0" sz="950" u="none" cap="none" strike="noStrike">
              <a:solidFill>
                <a:schemeClr val="dk1"/>
              </a:solidFill>
              <a:latin typeface="Calibri"/>
              <a:ea typeface="Calibri"/>
              <a:cs typeface="Calibri"/>
              <a:sym typeface="Calibri"/>
            </a:endParaRPr>
          </a:p>
        </p:txBody>
      </p:sp>
      <p:sp>
        <p:nvSpPr>
          <p:cNvPr id="371" name="Google Shape;371;p10"/>
          <p:cNvSpPr/>
          <p:nvPr/>
        </p:nvSpPr>
        <p:spPr>
          <a:xfrm>
            <a:off x="4754880" y="3072384"/>
            <a:ext cx="1371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950"/>
              <a:buFont typeface="Calibri"/>
              <a:buNone/>
            </a:pPr>
            <a:r>
              <a:rPr b="1" i="0" lang="en-US" sz="950" u="none" cap="none" strike="noStrike">
                <a:solidFill>
                  <a:srgbClr val="0A1628"/>
                </a:solidFill>
                <a:latin typeface="Calibri"/>
                <a:ea typeface="Calibri"/>
                <a:cs typeface="Calibri"/>
                <a:sym typeface="Calibri"/>
              </a:rPr>
              <a:t>Usage here</a:t>
            </a:r>
            <a:endParaRPr b="0" i="0" sz="950" u="none" cap="none" strike="noStrike">
              <a:solidFill>
                <a:schemeClr val="dk1"/>
              </a:solidFill>
              <a:latin typeface="Calibri"/>
              <a:ea typeface="Calibri"/>
              <a:cs typeface="Calibri"/>
              <a:sym typeface="Calibri"/>
            </a:endParaRPr>
          </a:p>
        </p:txBody>
      </p:sp>
      <p:sp>
        <p:nvSpPr>
          <p:cNvPr id="372" name="Google Shape;372;p10"/>
          <p:cNvSpPr/>
          <p:nvPr/>
        </p:nvSpPr>
        <p:spPr>
          <a:xfrm>
            <a:off x="6144768" y="3072384"/>
            <a:ext cx="1298448"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Primary XAI method</a:t>
            </a:r>
            <a:endParaRPr b="0" i="0" sz="950" u="none" cap="none" strike="noStrike">
              <a:solidFill>
                <a:schemeClr val="dk1"/>
              </a:solidFill>
              <a:latin typeface="Calibri"/>
              <a:ea typeface="Calibri"/>
              <a:cs typeface="Calibri"/>
              <a:sym typeface="Calibri"/>
            </a:endParaRPr>
          </a:p>
        </p:txBody>
      </p:sp>
      <p:sp>
        <p:nvSpPr>
          <p:cNvPr id="373" name="Google Shape;373;p10"/>
          <p:cNvSpPr/>
          <p:nvPr/>
        </p:nvSpPr>
        <p:spPr>
          <a:xfrm>
            <a:off x="7452360" y="3072384"/>
            <a:ext cx="123444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1B1B"/>
              </a:buClr>
              <a:buSzPts val="950"/>
              <a:buFont typeface="Calibri"/>
              <a:buNone/>
            </a:pPr>
            <a:r>
              <a:rPr b="0" i="0" lang="en-US" sz="950" u="none" cap="none" strike="noStrike">
                <a:solidFill>
                  <a:srgbClr val="991B1B"/>
                </a:solidFill>
                <a:latin typeface="Calibri"/>
                <a:ea typeface="Calibri"/>
                <a:cs typeface="Calibri"/>
                <a:sym typeface="Calibri"/>
              </a:rPr>
              <a:t>Cross-validation only</a:t>
            </a:r>
            <a:endParaRPr b="0" i="0" sz="950" u="none" cap="none" strike="noStrike">
              <a:solidFill>
                <a:schemeClr val="dk1"/>
              </a:solidFill>
              <a:latin typeface="Calibri"/>
              <a:ea typeface="Calibri"/>
              <a:cs typeface="Calibri"/>
              <a:sym typeface="Calibri"/>
            </a:endParaRPr>
          </a:p>
        </p:txBody>
      </p:sp>
      <p:sp>
        <p:nvSpPr>
          <p:cNvPr id="374" name="Google Shape;374;p10"/>
          <p:cNvSpPr/>
          <p:nvPr/>
        </p:nvSpPr>
        <p:spPr>
          <a:xfrm>
            <a:off x="411480" y="3767328"/>
            <a:ext cx="8339328" cy="1051560"/>
          </a:xfrm>
          <a:prstGeom prst="rect">
            <a:avLst/>
          </a:prstGeom>
          <a:solidFill>
            <a:srgbClr val="0A1628"/>
          </a:solidFill>
          <a:ln cap="flat" cmpd="sng" w="12700">
            <a:solidFill>
              <a:srgbClr val="0A162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411480" y="3767328"/>
            <a:ext cx="164592" cy="1051560"/>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p:nvPr/>
        </p:nvSpPr>
        <p:spPr>
          <a:xfrm>
            <a:off x="658368" y="3813048"/>
            <a:ext cx="3200400"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C55E"/>
              </a:buClr>
              <a:buSzPts val="1100"/>
              <a:buFont typeface="Calibri"/>
              <a:buNone/>
            </a:pPr>
            <a:r>
              <a:rPr b="1" i="0" lang="en-US" sz="1100" u="none" cap="none" strike="noStrike">
                <a:solidFill>
                  <a:srgbClr val="22C55E"/>
                </a:solidFill>
                <a:latin typeface="Calibri"/>
                <a:ea typeface="Calibri"/>
                <a:cs typeface="Calibri"/>
                <a:sym typeface="Calibri"/>
              </a:rPr>
              <a:t>Why Compare Both Methods?</a:t>
            </a:r>
            <a:endParaRPr b="0" i="0" sz="1100" u="none" cap="none" strike="noStrike">
              <a:solidFill>
                <a:schemeClr val="dk1"/>
              </a:solidFill>
              <a:latin typeface="Calibri"/>
              <a:ea typeface="Calibri"/>
              <a:cs typeface="Calibri"/>
              <a:sym typeface="Calibri"/>
            </a:endParaRPr>
          </a:p>
        </p:txBody>
      </p:sp>
      <p:sp>
        <p:nvSpPr>
          <p:cNvPr id="377" name="Google Shape;377;p10"/>
          <p:cNvSpPr/>
          <p:nvPr/>
        </p:nvSpPr>
        <p:spPr>
          <a:xfrm>
            <a:off x="658368" y="4078224"/>
            <a:ext cx="7882128"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When SHAP and LIME — two independent methods with entirely different mathematical foundations — agree on the top features for the same prediction, it constitutes strong evidence that those features genuinely drive the classification. Disagreement flags potential instability. This cross-method validation directly addresses the inconsistency finding of Arreche et al. (2024).</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382" name="Shape 382"/>
        <p:cNvGrpSpPr/>
        <p:nvPr/>
      </p:nvGrpSpPr>
      <p:grpSpPr>
        <a:xfrm>
          <a:off x="0" y="0"/>
          <a:ext cx="0" cy="0"/>
          <a:chOff x="0" y="0"/>
          <a:chExt cx="0" cy="0"/>
        </a:xfrm>
      </p:grpSpPr>
      <p:sp>
        <p:nvSpPr>
          <p:cNvPr id="383" name="Google Shape;383;p11"/>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OBJECTIVES</a:t>
            </a:r>
            <a:endParaRPr b="0" i="0" sz="850" u="none" cap="none" strike="noStrike">
              <a:solidFill>
                <a:schemeClr val="dk1"/>
              </a:solidFill>
              <a:latin typeface="Calibri"/>
              <a:ea typeface="Calibri"/>
              <a:cs typeface="Calibri"/>
              <a:sym typeface="Calibri"/>
            </a:endParaRPr>
          </a:p>
        </p:txBody>
      </p:sp>
      <p:sp>
        <p:nvSpPr>
          <p:cNvPr id="385" name="Google Shape;385;p11"/>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Research Objectives &amp; Research Questions</a:t>
            </a:r>
            <a:endParaRPr b="0" i="0" sz="2500" u="none" cap="none" strike="noStrike">
              <a:solidFill>
                <a:schemeClr val="dk1"/>
              </a:solidFill>
              <a:latin typeface="Calibri"/>
              <a:ea typeface="Calibri"/>
              <a:cs typeface="Calibri"/>
              <a:sym typeface="Calibri"/>
            </a:endParaRPr>
          </a:p>
        </p:txBody>
      </p:sp>
      <p:sp>
        <p:nvSpPr>
          <p:cNvPr id="386" name="Google Shape;386;p11"/>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11 / 14</a:t>
            </a:r>
            <a:endParaRPr b="0" i="0" sz="900" u="none" cap="none" strike="noStrike">
              <a:solidFill>
                <a:schemeClr val="dk1"/>
              </a:solidFill>
              <a:latin typeface="Calibri"/>
              <a:ea typeface="Calibri"/>
              <a:cs typeface="Calibri"/>
              <a:sym typeface="Calibri"/>
            </a:endParaRPr>
          </a:p>
        </p:txBody>
      </p:sp>
      <p:sp>
        <p:nvSpPr>
          <p:cNvPr id="388" name="Google Shape;388;p11"/>
          <p:cNvSpPr/>
          <p:nvPr/>
        </p:nvSpPr>
        <p:spPr>
          <a:xfrm>
            <a:off x="411480" y="1261872"/>
            <a:ext cx="4041648" cy="356616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a:off x="411480" y="1261872"/>
            <a:ext cx="4041648" cy="30175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a:off x="502920" y="1261872"/>
            <a:ext cx="393192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Research Objectives</a:t>
            </a:r>
            <a:endParaRPr b="0" i="0" sz="1050" u="none" cap="none" strike="noStrike">
              <a:solidFill>
                <a:schemeClr val="dk1"/>
              </a:solidFill>
              <a:latin typeface="Calibri"/>
              <a:ea typeface="Calibri"/>
              <a:cs typeface="Calibri"/>
              <a:sym typeface="Calibri"/>
            </a:endParaRPr>
          </a:p>
        </p:txBody>
      </p:sp>
      <p:sp>
        <p:nvSpPr>
          <p:cNvPr id="391" name="Google Shape;391;p11"/>
          <p:cNvSpPr/>
          <p:nvPr/>
        </p:nvSpPr>
        <p:spPr>
          <a:xfrm>
            <a:off x="530352" y="1682496"/>
            <a:ext cx="237744" cy="237744"/>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530352" y="168249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900"/>
              <a:buFont typeface="Calibri"/>
              <a:buNone/>
            </a:pPr>
            <a:r>
              <a:rPr b="1" i="0" lang="en-US" sz="900" u="none" cap="none" strike="noStrike">
                <a:solidFill>
                  <a:srgbClr val="0A1628"/>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93" name="Google Shape;393;p11"/>
          <p:cNvSpPr/>
          <p:nvPr/>
        </p:nvSpPr>
        <p:spPr>
          <a:xfrm>
            <a:off x="841248" y="1664208"/>
            <a:ext cx="352044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Train and compare Decision Tree, Random Forest, and XGBoost on NSL-KDD under identical experimental conditions</a:t>
            </a:r>
            <a:endParaRPr b="0" i="0" sz="950" u="none" cap="none" strike="noStrike">
              <a:solidFill>
                <a:schemeClr val="dk1"/>
              </a:solidFill>
              <a:latin typeface="Calibri"/>
              <a:ea typeface="Calibri"/>
              <a:cs typeface="Calibri"/>
              <a:sym typeface="Calibri"/>
            </a:endParaRPr>
          </a:p>
        </p:txBody>
      </p:sp>
      <p:sp>
        <p:nvSpPr>
          <p:cNvPr id="394" name="Google Shape;394;p11"/>
          <p:cNvSpPr/>
          <p:nvPr/>
        </p:nvSpPr>
        <p:spPr>
          <a:xfrm>
            <a:off x="530352" y="2286000"/>
            <a:ext cx="237744" cy="237744"/>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530352" y="228600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900"/>
              <a:buFont typeface="Calibri"/>
              <a:buNone/>
            </a:pPr>
            <a:r>
              <a:rPr b="1" i="0" lang="en-US" sz="900" u="none" cap="none" strike="noStrike">
                <a:solidFill>
                  <a:srgbClr val="0A162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96" name="Google Shape;396;p11"/>
          <p:cNvSpPr/>
          <p:nvPr/>
        </p:nvSpPr>
        <p:spPr>
          <a:xfrm>
            <a:off x="841248" y="2267712"/>
            <a:ext cx="352044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Apply exact TreeSHAP globally and per-class to document attack-specific feature signatures across all 5 classes</a:t>
            </a:r>
            <a:endParaRPr b="0" i="0" sz="950" u="none" cap="none" strike="noStrike">
              <a:solidFill>
                <a:schemeClr val="dk1"/>
              </a:solidFill>
              <a:latin typeface="Calibri"/>
              <a:ea typeface="Calibri"/>
              <a:cs typeface="Calibri"/>
              <a:sym typeface="Calibri"/>
            </a:endParaRPr>
          </a:p>
        </p:txBody>
      </p:sp>
      <p:sp>
        <p:nvSpPr>
          <p:cNvPr id="397" name="Google Shape;397;p11"/>
          <p:cNvSpPr/>
          <p:nvPr/>
        </p:nvSpPr>
        <p:spPr>
          <a:xfrm>
            <a:off x="530352" y="2889504"/>
            <a:ext cx="237744" cy="237744"/>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530352" y="2889504"/>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900"/>
              <a:buFont typeface="Calibri"/>
              <a:buNone/>
            </a:pPr>
            <a:r>
              <a:rPr b="1" i="0" lang="en-US" sz="900" u="none" cap="none" strike="noStrike">
                <a:solidFill>
                  <a:srgbClr val="0A1628"/>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399" name="Google Shape;399;p11"/>
          <p:cNvSpPr/>
          <p:nvPr/>
        </p:nvSpPr>
        <p:spPr>
          <a:xfrm>
            <a:off x="841248" y="2871216"/>
            <a:ext cx="352044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Compare SHAP and LIME on identical multi-class samples to measure cross-method agreement</a:t>
            </a:r>
            <a:endParaRPr b="0" i="0" sz="950" u="none" cap="none" strike="noStrike">
              <a:solidFill>
                <a:schemeClr val="dk1"/>
              </a:solidFill>
              <a:latin typeface="Calibri"/>
              <a:ea typeface="Calibri"/>
              <a:cs typeface="Calibri"/>
              <a:sym typeface="Calibri"/>
            </a:endParaRPr>
          </a:p>
        </p:txBody>
      </p:sp>
      <p:sp>
        <p:nvSpPr>
          <p:cNvPr id="400" name="Google Shape;400;p11"/>
          <p:cNvSpPr/>
          <p:nvPr/>
        </p:nvSpPr>
        <p:spPr>
          <a:xfrm>
            <a:off x="530352" y="3493008"/>
            <a:ext cx="237744" cy="237744"/>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a:off x="530352" y="349300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900"/>
              <a:buFont typeface="Calibri"/>
              <a:buNone/>
            </a:pPr>
            <a:r>
              <a:rPr b="1" i="0" lang="en-US" sz="900" u="none" cap="none" strike="noStrike">
                <a:solidFill>
                  <a:srgbClr val="0A1628"/>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402" name="Google Shape;402;p11"/>
          <p:cNvSpPr/>
          <p:nvPr/>
        </p:nvSpPr>
        <p:spPr>
          <a:xfrm>
            <a:off x="841248" y="3474720"/>
            <a:ext cx="352044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Validate SHAP feature rankings against established network security domain knowledge</a:t>
            </a:r>
            <a:endParaRPr b="0" i="0" sz="950" u="none" cap="none" strike="noStrike">
              <a:solidFill>
                <a:schemeClr val="dk1"/>
              </a:solidFill>
              <a:latin typeface="Calibri"/>
              <a:ea typeface="Calibri"/>
              <a:cs typeface="Calibri"/>
              <a:sym typeface="Calibri"/>
            </a:endParaRPr>
          </a:p>
        </p:txBody>
      </p:sp>
      <p:sp>
        <p:nvSpPr>
          <p:cNvPr id="403" name="Google Shape;403;p11"/>
          <p:cNvSpPr/>
          <p:nvPr/>
        </p:nvSpPr>
        <p:spPr>
          <a:xfrm>
            <a:off x="530352" y="4096512"/>
            <a:ext cx="237744" cy="237744"/>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530352" y="409651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900"/>
              <a:buFont typeface="Calibri"/>
              <a:buNone/>
            </a:pPr>
            <a:r>
              <a:rPr b="1" i="0" lang="en-US" sz="900" u="none" cap="none" strike="noStrike">
                <a:solidFill>
                  <a:srgbClr val="0A1628"/>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405" name="Google Shape;405;p11"/>
          <p:cNvSpPr/>
          <p:nvPr/>
        </p:nvSpPr>
        <p:spPr>
          <a:xfrm>
            <a:off x="841248" y="4078224"/>
            <a:ext cx="352044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Deliver a fully reproducible open Google Colab implementation of the complete pipeline</a:t>
            </a:r>
            <a:endParaRPr b="0" i="0" sz="950" u="none" cap="none" strike="noStrike">
              <a:solidFill>
                <a:schemeClr val="dk1"/>
              </a:solidFill>
              <a:latin typeface="Calibri"/>
              <a:ea typeface="Calibri"/>
              <a:cs typeface="Calibri"/>
              <a:sym typeface="Calibri"/>
            </a:endParaRPr>
          </a:p>
        </p:txBody>
      </p:sp>
      <p:sp>
        <p:nvSpPr>
          <p:cNvPr id="406" name="Google Shape;406;p11"/>
          <p:cNvSpPr/>
          <p:nvPr/>
        </p:nvSpPr>
        <p:spPr>
          <a:xfrm>
            <a:off x="4645152" y="1261872"/>
            <a:ext cx="4114800" cy="356616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4645152" y="1261872"/>
            <a:ext cx="4114800" cy="30175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4736592" y="1261872"/>
            <a:ext cx="4005072"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Research Questions</a:t>
            </a:r>
            <a:endParaRPr b="0" i="0" sz="1050" u="none" cap="none" strike="noStrike">
              <a:solidFill>
                <a:schemeClr val="dk1"/>
              </a:solidFill>
              <a:latin typeface="Calibri"/>
              <a:ea typeface="Calibri"/>
              <a:cs typeface="Calibri"/>
              <a:sym typeface="Calibri"/>
            </a:endParaRPr>
          </a:p>
        </p:txBody>
      </p:sp>
      <p:sp>
        <p:nvSpPr>
          <p:cNvPr id="409" name="Google Shape;409;p11"/>
          <p:cNvSpPr/>
          <p:nvPr/>
        </p:nvSpPr>
        <p:spPr>
          <a:xfrm>
            <a:off x="4754880" y="1682496"/>
            <a:ext cx="402336" cy="246888"/>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4754880" y="1682496"/>
            <a:ext cx="40233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RQ1</a:t>
            </a:r>
            <a:endParaRPr b="0" i="0" sz="850" u="none" cap="none" strike="noStrike">
              <a:solidFill>
                <a:schemeClr val="dk1"/>
              </a:solidFill>
              <a:latin typeface="Calibri"/>
              <a:ea typeface="Calibri"/>
              <a:cs typeface="Calibri"/>
              <a:sym typeface="Calibri"/>
            </a:endParaRPr>
          </a:p>
        </p:txBody>
      </p:sp>
      <p:sp>
        <p:nvSpPr>
          <p:cNvPr id="411" name="Google Shape;411;p11"/>
          <p:cNvSpPr/>
          <p:nvPr/>
        </p:nvSpPr>
        <p:spPr>
          <a:xfrm>
            <a:off x="5230368" y="1664208"/>
            <a:ext cx="3410712"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Can tree-based ML achieve high multi-class detection accuracy across all 5 NSL-KDD attack categories?</a:t>
            </a:r>
            <a:endParaRPr b="0" i="0" sz="950" u="none" cap="none" strike="noStrike">
              <a:solidFill>
                <a:schemeClr val="dk1"/>
              </a:solidFill>
              <a:latin typeface="Calibri"/>
              <a:ea typeface="Calibri"/>
              <a:cs typeface="Calibri"/>
              <a:sym typeface="Calibri"/>
            </a:endParaRPr>
          </a:p>
        </p:txBody>
      </p:sp>
      <p:sp>
        <p:nvSpPr>
          <p:cNvPr id="412" name="Google Shape;412;p11"/>
          <p:cNvSpPr/>
          <p:nvPr/>
        </p:nvSpPr>
        <p:spPr>
          <a:xfrm>
            <a:off x="4754880" y="2286000"/>
            <a:ext cx="402336" cy="246888"/>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4754880" y="2286000"/>
            <a:ext cx="40233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RQ2</a:t>
            </a:r>
            <a:endParaRPr b="0" i="0" sz="850" u="none" cap="none" strike="noStrike">
              <a:solidFill>
                <a:schemeClr val="dk1"/>
              </a:solidFill>
              <a:latin typeface="Calibri"/>
              <a:ea typeface="Calibri"/>
              <a:cs typeface="Calibri"/>
              <a:sym typeface="Calibri"/>
            </a:endParaRPr>
          </a:p>
        </p:txBody>
      </p:sp>
      <p:sp>
        <p:nvSpPr>
          <p:cNvPr id="414" name="Google Shape;414;p11"/>
          <p:cNvSpPr/>
          <p:nvPr/>
        </p:nvSpPr>
        <p:spPr>
          <a:xfrm>
            <a:off x="5230368" y="2267712"/>
            <a:ext cx="3410712"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Does each attack class have a distinct and domain-explainable SHAP feature signature?</a:t>
            </a:r>
            <a:endParaRPr b="0" i="0" sz="950" u="none" cap="none" strike="noStrike">
              <a:solidFill>
                <a:schemeClr val="dk1"/>
              </a:solidFill>
              <a:latin typeface="Calibri"/>
              <a:ea typeface="Calibri"/>
              <a:cs typeface="Calibri"/>
              <a:sym typeface="Calibri"/>
            </a:endParaRPr>
          </a:p>
        </p:txBody>
      </p:sp>
      <p:sp>
        <p:nvSpPr>
          <p:cNvPr id="415" name="Google Shape;415;p11"/>
          <p:cNvSpPr/>
          <p:nvPr/>
        </p:nvSpPr>
        <p:spPr>
          <a:xfrm>
            <a:off x="4754880" y="2889504"/>
            <a:ext cx="402336" cy="24688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4754880" y="2889504"/>
            <a:ext cx="40233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RQ3</a:t>
            </a:r>
            <a:endParaRPr b="0" i="0" sz="850" u="none" cap="none" strike="noStrike">
              <a:solidFill>
                <a:schemeClr val="dk1"/>
              </a:solidFill>
              <a:latin typeface="Calibri"/>
              <a:ea typeface="Calibri"/>
              <a:cs typeface="Calibri"/>
              <a:sym typeface="Calibri"/>
            </a:endParaRPr>
          </a:p>
        </p:txBody>
      </p:sp>
      <p:sp>
        <p:nvSpPr>
          <p:cNvPr id="417" name="Google Shape;417;p11"/>
          <p:cNvSpPr/>
          <p:nvPr/>
        </p:nvSpPr>
        <p:spPr>
          <a:xfrm>
            <a:off x="5230368" y="2871216"/>
            <a:ext cx="3410712"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Which specific network features most strongly distinguish DoS from Probe, R2L, and U2R?</a:t>
            </a:r>
            <a:endParaRPr b="0" i="0" sz="950" u="none" cap="none" strike="noStrike">
              <a:solidFill>
                <a:schemeClr val="dk1"/>
              </a:solidFill>
              <a:latin typeface="Calibri"/>
              <a:ea typeface="Calibri"/>
              <a:cs typeface="Calibri"/>
              <a:sym typeface="Calibri"/>
            </a:endParaRPr>
          </a:p>
        </p:txBody>
      </p:sp>
      <p:sp>
        <p:nvSpPr>
          <p:cNvPr id="418" name="Google Shape;418;p11"/>
          <p:cNvSpPr/>
          <p:nvPr/>
        </p:nvSpPr>
        <p:spPr>
          <a:xfrm>
            <a:off x="4754880" y="3493008"/>
            <a:ext cx="402336" cy="246888"/>
          </a:xfrm>
          <a:prstGeom prst="rect">
            <a:avLst/>
          </a:prstGeom>
          <a:solidFill>
            <a:srgbClr val="F97316"/>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4754880" y="3493008"/>
            <a:ext cx="40233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RQ4</a:t>
            </a:r>
            <a:endParaRPr b="0" i="0" sz="850" u="none" cap="none" strike="noStrike">
              <a:solidFill>
                <a:schemeClr val="dk1"/>
              </a:solidFill>
              <a:latin typeface="Calibri"/>
              <a:ea typeface="Calibri"/>
              <a:cs typeface="Calibri"/>
              <a:sym typeface="Calibri"/>
            </a:endParaRPr>
          </a:p>
        </p:txBody>
      </p:sp>
      <p:sp>
        <p:nvSpPr>
          <p:cNvPr id="420" name="Google Shape;420;p11"/>
          <p:cNvSpPr/>
          <p:nvPr/>
        </p:nvSpPr>
        <p:spPr>
          <a:xfrm>
            <a:off x="5230368" y="3474720"/>
            <a:ext cx="3410712"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Do SHAP and LIME agree on feature importance for the same multi-class IDS predictions?</a:t>
            </a:r>
            <a:endParaRPr b="0" i="0" sz="950" u="none" cap="none" strike="noStrike">
              <a:solidFill>
                <a:schemeClr val="dk1"/>
              </a:solidFill>
              <a:latin typeface="Calibri"/>
              <a:ea typeface="Calibri"/>
              <a:cs typeface="Calibri"/>
              <a:sym typeface="Calibri"/>
            </a:endParaRPr>
          </a:p>
        </p:txBody>
      </p:sp>
      <p:sp>
        <p:nvSpPr>
          <p:cNvPr id="421" name="Google Shape;421;p11"/>
          <p:cNvSpPr/>
          <p:nvPr/>
        </p:nvSpPr>
        <p:spPr>
          <a:xfrm>
            <a:off x="4754880" y="4096512"/>
            <a:ext cx="402336" cy="246888"/>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4754880" y="4096512"/>
            <a:ext cx="40233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RQ5</a:t>
            </a:r>
            <a:endParaRPr b="0" i="0" sz="850" u="none" cap="none" strike="noStrike">
              <a:solidFill>
                <a:schemeClr val="dk1"/>
              </a:solidFill>
              <a:latin typeface="Calibri"/>
              <a:ea typeface="Calibri"/>
              <a:cs typeface="Calibri"/>
              <a:sym typeface="Calibri"/>
            </a:endParaRPr>
          </a:p>
        </p:txBody>
      </p:sp>
      <p:sp>
        <p:nvSpPr>
          <p:cNvPr id="423" name="Google Shape;423;p11"/>
          <p:cNvSpPr/>
          <p:nvPr/>
        </p:nvSpPr>
        <p:spPr>
          <a:xfrm>
            <a:off x="5230368" y="4078224"/>
            <a:ext cx="3410712"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Does explanation quality or feature ranking differ across Decision Tree, Random Forest, and XGBoost?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428" name="Shape 428"/>
        <p:cNvGrpSpPr/>
        <p:nvPr/>
      </p:nvGrpSpPr>
      <p:grpSpPr>
        <a:xfrm>
          <a:off x="0" y="0"/>
          <a:ext cx="0" cy="0"/>
          <a:chOff x="0" y="0"/>
          <a:chExt cx="0" cy="0"/>
        </a:xfrm>
      </p:grpSpPr>
      <p:sp>
        <p:nvSpPr>
          <p:cNvPr id="429" name="Google Shape;429;p12"/>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2"/>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EXPECTED RESULTS</a:t>
            </a:r>
            <a:endParaRPr b="0" i="0" sz="850" u="none" cap="none" strike="noStrike">
              <a:solidFill>
                <a:schemeClr val="dk1"/>
              </a:solidFill>
              <a:latin typeface="Calibri"/>
              <a:ea typeface="Calibri"/>
              <a:cs typeface="Calibri"/>
              <a:sym typeface="Calibri"/>
            </a:endParaRPr>
          </a:p>
        </p:txBody>
      </p:sp>
      <p:sp>
        <p:nvSpPr>
          <p:cNvPr id="431" name="Google Shape;431;p12"/>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Expected Results &amp; Why They Matter</a:t>
            </a:r>
            <a:endParaRPr b="0" i="0" sz="2500" u="none" cap="none" strike="noStrike">
              <a:solidFill>
                <a:schemeClr val="dk1"/>
              </a:solidFill>
              <a:latin typeface="Calibri"/>
              <a:ea typeface="Calibri"/>
              <a:cs typeface="Calibri"/>
              <a:sym typeface="Calibri"/>
            </a:endParaRPr>
          </a:p>
        </p:txBody>
      </p:sp>
      <p:sp>
        <p:nvSpPr>
          <p:cNvPr id="432" name="Google Shape;432;p12"/>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12 / 14</a:t>
            </a:r>
            <a:endParaRPr b="0" i="0" sz="900" u="none" cap="none" strike="noStrike">
              <a:solidFill>
                <a:schemeClr val="dk1"/>
              </a:solidFill>
              <a:latin typeface="Calibri"/>
              <a:ea typeface="Calibri"/>
              <a:cs typeface="Calibri"/>
              <a:sym typeface="Calibri"/>
            </a:endParaRPr>
          </a:p>
        </p:txBody>
      </p:sp>
      <p:sp>
        <p:nvSpPr>
          <p:cNvPr id="434" name="Google Shape;434;p12"/>
          <p:cNvSpPr/>
          <p:nvPr/>
        </p:nvSpPr>
        <p:spPr>
          <a:xfrm>
            <a:off x="411480" y="1261872"/>
            <a:ext cx="2651760" cy="24871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p:nvPr/>
        </p:nvSpPr>
        <p:spPr>
          <a:xfrm>
            <a:off x="411480" y="1261872"/>
            <a:ext cx="2651760" cy="292608"/>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2"/>
          <p:cNvSpPr/>
          <p:nvPr/>
        </p:nvSpPr>
        <p:spPr>
          <a:xfrm>
            <a:off x="484632" y="1261872"/>
            <a:ext cx="250545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  High Classification Accuracy</a:t>
            </a:r>
            <a:endParaRPr b="0" i="0" sz="1000" u="none" cap="none" strike="noStrike">
              <a:solidFill>
                <a:schemeClr val="dk1"/>
              </a:solidFill>
              <a:latin typeface="Calibri"/>
              <a:ea typeface="Calibri"/>
              <a:cs typeface="Calibri"/>
              <a:sym typeface="Calibri"/>
            </a:endParaRPr>
          </a:p>
        </p:txBody>
      </p:sp>
      <p:sp>
        <p:nvSpPr>
          <p:cNvPr id="437" name="Google Shape;437;p12"/>
          <p:cNvSpPr/>
          <p:nvPr/>
        </p:nvSpPr>
        <p:spPr>
          <a:xfrm>
            <a:off x="502920" y="1591056"/>
            <a:ext cx="2468880" cy="11521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Random Forest and XGBoost are expected to achieve &gt;95% accuracy and weighted F1-score on NSL-KDD. Decision Tree serves as the interpretable baseline. Lower performance on rare classes (U2R, R2L) will be analysed — SHAP will reveal which features misled the model.</a:t>
            </a:r>
            <a:endParaRPr b="0" i="0" sz="950" u="none" cap="none" strike="noStrike">
              <a:solidFill>
                <a:schemeClr val="dk1"/>
              </a:solidFill>
              <a:latin typeface="Calibri"/>
              <a:ea typeface="Calibri"/>
              <a:cs typeface="Calibri"/>
              <a:sym typeface="Calibri"/>
            </a:endParaRPr>
          </a:p>
        </p:txBody>
      </p:sp>
      <p:sp>
        <p:nvSpPr>
          <p:cNvPr id="438" name="Google Shape;438;p12"/>
          <p:cNvSpPr/>
          <p:nvPr/>
        </p:nvSpPr>
        <p:spPr>
          <a:xfrm>
            <a:off x="3264408" y="1261872"/>
            <a:ext cx="2651760" cy="24871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
          <p:cNvSpPr/>
          <p:nvPr/>
        </p:nvSpPr>
        <p:spPr>
          <a:xfrm>
            <a:off x="3264408" y="1261872"/>
            <a:ext cx="2651760" cy="292608"/>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2"/>
          <p:cNvSpPr/>
          <p:nvPr/>
        </p:nvSpPr>
        <p:spPr>
          <a:xfrm>
            <a:off x="3337560" y="1261872"/>
            <a:ext cx="250545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  Distinct Per-Class SHAP Signatures</a:t>
            </a:r>
            <a:endParaRPr b="0" i="0" sz="1000" u="none" cap="none" strike="noStrike">
              <a:solidFill>
                <a:schemeClr val="dk1"/>
              </a:solidFill>
              <a:latin typeface="Calibri"/>
              <a:ea typeface="Calibri"/>
              <a:cs typeface="Calibri"/>
              <a:sym typeface="Calibri"/>
            </a:endParaRPr>
          </a:p>
        </p:txBody>
      </p:sp>
      <p:sp>
        <p:nvSpPr>
          <p:cNvPr id="441" name="Google Shape;441;p12"/>
          <p:cNvSpPr/>
          <p:nvPr/>
        </p:nvSpPr>
        <p:spPr>
          <a:xfrm>
            <a:off x="3355848" y="1591056"/>
            <a:ext cx="2468880" cy="11521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Each of the 5 attack classes is expected to show a unique SHAP feature profile. DoS driven by traffic volume. Probe by service diversity. R2L by authentication failures. U2R by privilege escalation indicators. This is the core empirical finding of the thesis.</a:t>
            </a:r>
            <a:endParaRPr b="0" i="0" sz="950" u="none" cap="none" strike="noStrike">
              <a:solidFill>
                <a:schemeClr val="dk1"/>
              </a:solidFill>
              <a:latin typeface="Calibri"/>
              <a:ea typeface="Calibri"/>
              <a:cs typeface="Calibri"/>
              <a:sym typeface="Calibri"/>
            </a:endParaRPr>
          </a:p>
        </p:txBody>
      </p:sp>
      <p:sp>
        <p:nvSpPr>
          <p:cNvPr id="442" name="Google Shape;442;p12"/>
          <p:cNvSpPr/>
          <p:nvPr/>
        </p:nvSpPr>
        <p:spPr>
          <a:xfrm>
            <a:off x="6117336" y="1261872"/>
            <a:ext cx="2651760" cy="2487168"/>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2"/>
          <p:cNvSpPr/>
          <p:nvPr/>
        </p:nvSpPr>
        <p:spPr>
          <a:xfrm>
            <a:off x="6117336" y="1261872"/>
            <a:ext cx="2651760" cy="29260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2"/>
          <p:cNvSpPr/>
          <p:nvPr/>
        </p:nvSpPr>
        <p:spPr>
          <a:xfrm>
            <a:off x="6190488" y="1261872"/>
            <a:ext cx="2505456"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  SHAP vs LIME Agreement on Key Features</a:t>
            </a:r>
            <a:endParaRPr b="0" i="0" sz="1000" u="none" cap="none" strike="noStrike">
              <a:solidFill>
                <a:schemeClr val="dk1"/>
              </a:solidFill>
              <a:latin typeface="Calibri"/>
              <a:ea typeface="Calibri"/>
              <a:cs typeface="Calibri"/>
              <a:sym typeface="Calibri"/>
            </a:endParaRPr>
          </a:p>
        </p:txBody>
      </p:sp>
      <p:sp>
        <p:nvSpPr>
          <p:cNvPr id="445" name="Google Shape;445;p12"/>
          <p:cNvSpPr/>
          <p:nvPr/>
        </p:nvSpPr>
        <p:spPr>
          <a:xfrm>
            <a:off x="6208776" y="1591056"/>
            <a:ext cx="2468880" cy="11521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For DoS and Probe — the dominant classes — SHAP and LIME are expected to agree strongly on the top 5 features, validating explanation reliability. For rare classes (U2R, R2L), some divergence is expected due to limited training samples — an insightful finding in itself.</a:t>
            </a:r>
            <a:endParaRPr b="0" i="0" sz="950" u="none" cap="none" strike="noStrike">
              <a:solidFill>
                <a:schemeClr val="dk1"/>
              </a:solidFill>
              <a:latin typeface="Calibri"/>
              <a:ea typeface="Calibri"/>
              <a:cs typeface="Calibri"/>
              <a:sym typeface="Calibri"/>
            </a:endParaRPr>
          </a:p>
        </p:txBody>
      </p:sp>
      <p:sp>
        <p:nvSpPr>
          <p:cNvPr id="446" name="Google Shape;446;p12"/>
          <p:cNvSpPr/>
          <p:nvPr/>
        </p:nvSpPr>
        <p:spPr>
          <a:xfrm>
            <a:off x="411480" y="3886200"/>
            <a:ext cx="8339328" cy="932688"/>
          </a:xfrm>
          <a:prstGeom prst="rect">
            <a:avLst/>
          </a:prstGeom>
          <a:solidFill>
            <a:srgbClr val="0A1628"/>
          </a:solidFill>
          <a:ln cap="flat" cmpd="sng" w="12700">
            <a:solidFill>
              <a:srgbClr val="0A162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2"/>
          <p:cNvSpPr/>
          <p:nvPr/>
        </p:nvSpPr>
        <p:spPr>
          <a:xfrm>
            <a:off x="411480" y="3886200"/>
            <a:ext cx="164592" cy="932688"/>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2"/>
          <p:cNvSpPr/>
          <p:nvPr/>
        </p:nvSpPr>
        <p:spPr>
          <a:xfrm>
            <a:off x="658368" y="3931920"/>
            <a:ext cx="2286000" cy="2468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D4"/>
              </a:buClr>
              <a:buSzPts val="1100"/>
              <a:buFont typeface="Calibri"/>
              <a:buNone/>
            </a:pPr>
            <a:r>
              <a:rPr b="1" i="0" lang="en-US" sz="1100" u="none" cap="none" strike="noStrike">
                <a:solidFill>
                  <a:srgbClr val="00C2D4"/>
                </a:solidFill>
                <a:latin typeface="Calibri"/>
                <a:ea typeface="Calibri"/>
                <a:cs typeface="Calibri"/>
                <a:sym typeface="Calibri"/>
              </a:rPr>
              <a:t>Thesis Statement</a:t>
            </a:r>
            <a:endParaRPr b="0" i="0" sz="1100" u="none" cap="none" strike="noStrike">
              <a:solidFill>
                <a:schemeClr val="dk1"/>
              </a:solidFill>
              <a:latin typeface="Calibri"/>
              <a:ea typeface="Calibri"/>
              <a:cs typeface="Calibri"/>
              <a:sym typeface="Calibri"/>
            </a:endParaRPr>
          </a:p>
        </p:txBody>
      </p:sp>
      <p:sp>
        <p:nvSpPr>
          <p:cNvPr id="449" name="Google Shape;449;p12"/>
          <p:cNvSpPr/>
          <p:nvPr/>
        </p:nvSpPr>
        <p:spPr>
          <a:xfrm>
            <a:off x="658368" y="4206240"/>
            <a:ext cx="78821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While recent 2024–2025 work applies SHAP globally to IDS, no study has simultaneously documented per-class SHAP feature signatures for all 5 attack classes, compared SHAP vs LIME on multi-class predictions, and used exact TreeSHAP values — this thesis fills all three gaps.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6F8"/>
        </a:solidFill>
      </p:bgPr>
    </p:bg>
    <p:spTree>
      <p:nvGrpSpPr>
        <p:cNvPr id="454" name="Shape 454"/>
        <p:cNvGrpSpPr/>
        <p:nvPr/>
      </p:nvGrpSpPr>
      <p:grpSpPr>
        <a:xfrm>
          <a:off x="0" y="0"/>
          <a:ext cx="0" cy="0"/>
          <a:chOff x="0" y="0"/>
          <a:chExt cx="0" cy="0"/>
        </a:xfrm>
      </p:grpSpPr>
      <p:sp>
        <p:nvSpPr>
          <p:cNvPr id="455" name="Google Shape;455;p13"/>
          <p:cNvSpPr/>
          <p:nvPr/>
        </p:nvSpPr>
        <p:spPr>
          <a:xfrm>
            <a:off x="411480" y="201168"/>
            <a:ext cx="1783080" cy="265176"/>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411480" y="201168"/>
            <a:ext cx="17830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628"/>
              </a:buClr>
              <a:buSzPts val="850"/>
              <a:buFont typeface="Calibri"/>
              <a:buNone/>
            </a:pPr>
            <a:r>
              <a:rPr b="1" i="0" lang="en-US" sz="850" u="none" cap="none" strike="noStrike">
                <a:solidFill>
                  <a:srgbClr val="0A1628"/>
                </a:solidFill>
                <a:latin typeface="Calibri"/>
                <a:ea typeface="Calibri"/>
                <a:cs typeface="Calibri"/>
                <a:sym typeface="Calibri"/>
              </a:rPr>
              <a:t>LIMITATIONS</a:t>
            </a:r>
            <a:endParaRPr b="0" i="0" sz="850" u="none" cap="none" strike="noStrike">
              <a:solidFill>
                <a:schemeClr val="dk1"/>
              </a:solidFill>
              <a:latin typeface="Calibri"/>
              <a:ea typeface="Calibri"/>
              <a:cs typeface="Calibri"/>
              <a:sym typeface="Calibri"/>
            </a:endParaRPr>
          </a:p>
        </p:txBody>
      </p:sp>
      <p:sp>
        <p:nvSpPr>
          <p:cNvPr id="457" name="Google Shape;457;p13"/>
          <p:cNvSpPr/>
          <p:nvPr/>
        </p:nvSpPr>
        <p:spPr>
          <a:xfrm>
            <a:off x="411480" y="548640"/>
            <a:ext cx="8339328"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2500"/>
              <a:buFont typeface="Calibri"/>
              <a:buNone/>
            </a:pPr>
            <a:r>
              <a:rPr b="1" i="0" lang="en-US" sz="2500" u="none" cap="none" strike="noStrike">
                <a:solidFill>
                  <a:srgbClr val="0A1628"/>
                </a:solidFill>
                <a:latin typeface="Calibri"/>
                <a:ea typeface="Calibri"/>
                <a:cs typeface="Calibri"/>
                <a:sym typeface="Calibri"/>
              </a:rPr>
              <a:t>Limitations &amp; Future Research Directions</a:t>
            </a:r>
            <a:endParaRPr b="0" i="0" sz="2500" u="none" cap="none" strike="noStrike">
              <a:solidFill>
                <a:schemeClr val="dk1"/>
              </a:solidFill>
              <a:latin typeface="Calibri"/>
              <a:ea typeface="Calibri"/>
              <a:cs typeface="Calibri"/>
              <a:sym typeface="Calibri"/>
            </a:endParaRPr>
          </a:p>
        </p:txBody>
      </p:sp>
      <p:sp>
        <p:nvSpPr>
          <p:cNvPr id="458" name="Google Shape;458;p13"/>
          <p:cNvSpPr/>
          <p:nvPr/>
        </p:nvSpPr>
        <p:spPr>
          <a:xfrm>
            <a:off x="411480" y="1143000"/>
            <a:ext cx="8339328" cy="22860"/>
          </a:xfrm>
          <a:prstGeom prst="rect">
            <a:avLst/>
          </a:prstGeom>
          <a:solidFill>
            <a:srgbClr val="C8D8E4"/>
          </a:solidFill>
          <a:ln cap="flat" cmpd="sng" w="12700">
            <a:solidFill>
              <a:srgbClr val="C8D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8503920" y="4892040"/>
            <a:ext cx="594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8B8"/>
              </a:buClr>
              <a:buSzPts val="900"/>
              <a:buFont typeface="Calibri"/>
              <a:buNone/>
            </a:pPr>
            <a:r>
              <a:rPr b="0" i="0" lang="en-US" sz="900" u="none" cap="none" strike="noStrike">
                <a:solidFill>
                  <a:srgbClr val="8FA8B8"/>
                </a:solidFill>
                <a:latin typeface="Calibri"/>
                <a:ea typeface="Calibri"/>
                <a:cs typeface="Calibri"/>
                <a:sym typeface="Calibri"/>
              </a:rPr>
              <a:t>13 / 14</a:t>
            </a:r>
            <a:endParaRPr b="0" i="0" sz="900" u="none" cap="none" strike="noStrike">
              <a:solidFill>
                <a:schemeClr val="dk1"/>
              </a:solidFill>
              <a:latin typeface="Calibri"/>
              <a:ea typeface="Calibri"/>
              <a:cs typeface="Calibri"/>
              <a:sym typeface="Calibri"/>
            </a:endParaRPr>
          </a:p>
        </p:txBody>
      </p:sp>
      <p:sp>
        <p:nvSpPr>
          <p:cNvPr id="460" name="Google Shape;460;p13"/>
          <p:cNvSpPr/>
          <p:nvPr/>
        </p:nvSpPr>
        <p:spPr>
          <a:xfrm>
            <a:off x="411480" y="1261872"/>
            <a:ext cx="4041648" cy="356616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411480" y="1261872"/>
            <a:ext cx="4041648" cy="30175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502920" y="1261872"/>
            <a:ext cx="393192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Current Limitations</a:t>
            </a:r>
            <a:endParaRPr b="0" i="0" sz="1050" u="none" cap="none" strike="noStrike">
              <a:solidFill>
                <a:schemeClr val="dk1"/>
              </a:solidFill>
              <a:latin typeface="Calibri"/>
              <a:ea typeface="Calibri"/>
              <a:cs typeface="Calibri"/>
              <a:sym typeface="Calibri"/>
            </a:endParaRPr>
          </a:p>
        </p:txBody>
      </p:sp>
      <p:sp>
        <p:nvSpPr>
          <p:cNvPr id="463" name="Google Shape;463;p13"/>
          <p:cNvSpPr/>
          <p:nvPr/>
        </p:nvSpPr>
        <p:spPr>
          <a:xfrm>
            <a:off x="530352" y="1682496"/>
            <a:ext cx="91440" cy="54864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694944" y="1682496"/>
            <a:ext cx="3639312"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Simulated Dataset</a:t>
            </a:r>
            <a:endParaRPr b="0" i="0" sz="1000" u="none" cap="none" strike="noStrike">
              <a:solidFill>
                <a:schemeClr val="dk1"/>
              </a:solidFill>
              <a:latin typeface="Calibri"/>
              <a:ea typeface="Calibri"/>
              <a:cs typeface="Calibri"/>
              <a:sym typeface="Calibri"/>
            </a:endParaRPr>
          </a:p>
        </p:txBody>
      </p:sp>
      <p:sp>
        <p:nvSpPr>
          <p:cNvPr id="465" name="Google Shape;465;p13"/>
          <p:cNvSpPr/>
          <p:nvPr/>
        </p:nvSpPr>
        <p:spPr>
          <a:xfrm>
            <a:off x="694944" y="1920240"/>
            <a:ext cx="363931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NSL-KDD (2009) does not include modern attack types — ransomware, APT, zero-day exploits. Accepted for undergraduate research but requires update for real deployment.</a:t>
            </a:r>
            <a:endParaRPr b="0" i="0" sz="950" u="none" cap="none" strike="noStrike">
              <a:solidFill>
                <a:schemeClr val="dk1"/>
              </a:solidFill>
              <a:latin typeface="Calibri"/>
              <a:ea typeface="Calibri"/>
              <a:cs typeface="Calibri"/>
              <a:sym typeface="Calibri"/>
            </a:endParaRPr>
          </a:p>
        </p:txBody>
      </p:sp>
      <p:sp>
        <p:nvSpPr>
          <p:cNvPr id="466" name="Google Shape;466;p13"/>
          <p:cNvSpPr/>
          <p:nvPr/>
        </p:nvSpPr>
        <p:spPr>
          <a:xfrm>
            <a:off x="530352" y="2359152"/>
            <a:ext cx="91440" cy="54864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694944" y="2359152"/>
            <a:ext cx="3639312"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Class Imbalance</a:t>
            </a:r>
            <a:endParaRPr b="0" i="0" sz="1000" u="none" cap="none" strike="noStrike">
              <a:solidFill>
                <a:schemeClr val="dk1"/>
              </a:solidFill>
              <a:latin typeface="Calibri"/>
              <a:ea typeface="Calibri"/>
              <a:cs typeface="Calibri"/>
              <a:sym typeface="Calibri"/>
            </a:endParaRPr>
          </a:p>
        </p:txBody>
      </p:sp>
      <p:sp>
        <p:nvSpPr>
          <p:cNvPr id="468" name="Google Shape;468;p13"/>
          <p:cNvSpPr/>
          <p:nvPr/>
        </p:nvSpPr>
        <p:spPr>
          <a:xfrm>
            <a:off x="694944" y="2596896"/>
            <a:ext cx="363931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U2R and R2L contain fewer than 300 training samples versus tens of thousands for Normal and DoS — causing lower recall on the rarest and most dangerous categories.</a:t>
            </a:r>
            <a:endParaRPr b="0" i="0" sz="950" u="none" cap="none" strike="noStrike">
              <a:solidFill>
                <a:schemeClr val="dk1"/>
              </a:solidFill>
              <a:latin typeface="Calibri"/>
              <a:ea typeface="Calibri"/>
              <a:cs typeface="Calibri"/>
              <a:sym typeface="Calibri"/>
            </a:endParaRPr>
          </a:p>
        </p:txBody>
      </p:sp>
      <p:sp>
        <p:nvSpPr>
          <p:cNvPr id="469" name="Google Shape;469;p13"/>
          <p:cNvSpPr/>
          <p:nvPr/>
        </p:nvSpPr>
        <p:spPr>
          <a:xfrm>
            <a:off x="530352" y="3035808"/>
            <a:ext cx="91440" cy="54864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694944" y="3035808"/>
            <a:ext cx="3639312"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No Hyperparameter Tuning</a:t>
            </a:r>
            <a:endParaRPr b="0" i="0" sz="1000" u="none" cap="none" strike="noStrike">
              <a:solidFill>
                <a:schemeClr val="dk1"/>
              </a:solidFill>
              <a:latin typeface="Calibri"/>
              <a:ea typeface="Calibri"/>
              <a:cs typeface="Calibri"/>
              <a:sym typeface="Calibri"/>
            </a:endParaRPr>
          </a:p>
        </p:txBody>
      </p:sp>
      <p:sp>
        <p:nvSpPr>
          <p:cNvPr id="471" name="Google Shape;471;p13"/>
          <p:cNvSpPr/>
          <p:nvPr/>
        </p:nvSpPr>
        <p:spPr>
          <a:xfrm>
            <a:off x="694944" y="3273552"/>
            <a:ext cx="363931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Models use standard configurations. GridSearchCV cross-validation could further improve results — identified as out of scope for this thesis.</a:t>
            </a:r>
            <a:endParaRPr b="0" i="0" sz="950" u="none" cap="none" strike="noStrike">
              <a:solidFill>
                <a:schemeClr val="dk1"/>
              </a:solidFill>
              <a:latin typeface="Calibri"/>
              <a:ea typeface="Calibri"/>
              <a:cs typeface="Calibri"/>
              <a:sym typeface="Calibri"/>
            </a:endParaRPr>
          </a:p>
        </p:txBody>
      </p:sp>
      <p:sp>
        <p:nvSpPr>
          <p:cNvPr id="472" name="Google Shape;472;p13"/>
          <p:cNvSpPr/>
          <p:nvPr/>
        </p:nvSpPr>
        <p:spPr>
          <a:xfrm>
            <a:off x="530352" y="3712464"/>
            <a:ext cx="91440" cy="54864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694944" y="3712464"/>
            <a:ext cx="3639312"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Real-Time Not Tested</a:t>
            </a:r>
            <a:endParaRPr b="0" i="0" sz="1000" u="none" cap="none" strike="noStrike">
              <a:solidFill>
                <a:schemeClr val="dk1"/>
              </a:solidFill>
              <a:latin typeface="Calibri"/>
              <a:ea typeface="Calibri"/>
              <a:cs typeface="Calibri"/>
              <a:sym typeface="Calibri"/>
            </a:endParaRPr>
          </a:p>
        </p:txBody>
      </p:sp>
      <p:sp>
        <p:nvSpPr>
          <p:cNvPr id="474" name="Google Shape;474;p13"/>
          <p:cNvSpPr/>
          <p:nvPr/>
        </p:nvSpPr>
        <p:spPr>
          <a:xfrm>
            <a:off x="694944" y="3950208"/>
            <a:ext cx="3639312"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SHAP computation speed has not been evaluated at production network streaming scale. TreeSHAP optimization for live traffic is a known open problem.</a:t>
            </a:r>
            <a:endParaRPr b="0" i="0" sz="950" u="none" cap="none" strike="noStrike">
              <a:solidFill>
                <a:schemeClr val="dk1"/>
              </a:solidFill>
              <a:latin typeface="Calibri"/>
              <a:ea typeface="Calibri"/>
              <a:cs typeface="Calibri"/>
              <a:sym typeface="Calibri"/>
            </a:endParaRPr>
          </a:p>
        </p:txBody>
      </p:sp>
      <p:sp>
        <p:nvSpPr>
          <p:cNvPr id="475" name="Google Shape;475;p13"/>
          <p:cNvSpPr/>
          <p:nvPr/>
        </p:nvSpPr>
        <p:spPr>
          <a:xfrm>
            <a:off x="4645152" y="1261872"/>
            <a:ext cx="4114800" cy="3566160"/>
          </a:xfrm>
          <a:prstGeom prst="rect">
            <a:avLst/>
          </a:prstGeom>
          <a:solidFill>
            <a:srgbClr val="FFFFFF"/>
          </a:solidFill>
          <a:ln cap="flat" cmpd="sng" w="9525">
            <a:solidFill>
              <a:srgbClr val="D0DDE8"/>
            </a:solidFill>
            <a:prstDash val="solid"/>
            <a:round/>
            <a:headEnd len="sm" w="sm" type="none"/>
            <a:tailEnd len="sm" w="sm" type="none"/>
          </a:ln>
          <a:effectLst>
            <a:outerShdw blurRad="889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4645152" y="1261872"/>
            <a:ext cx="4114800" cy="301752"/>
          </a:xfrm>
          <a:prstGeom prst="rect">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4736592" y="1261872"/>
            <a:ext cx="4005072"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Future Research Directions</a:t>
            </a:r>
            <a:endParaRPr b="0" i="0" sz="1050" u="none" cap="none" strike="noStrike">
              <a:solidFill>
                <a:schemeClr val="dk1"/>
              </a:solidFill>
              <a:latin typeface="Calibri"/>
              <a:ea typeface="Calibri"/>
              <a:cs typeface="Calibri"/>
              <a:sym typeface="Calibri"/>
            </a:endParaRPr>
          </a:p>
        </p:txBody>
      </p:sp>
      <p:sp>
        <p:nvSpPr>
          <p:cNvPr id="478" name="Google Shape;478;p13"/>
          <p:cNvSpPr/>
          <p:nvPr/>
        </p:nvSpPr>
        <p:spPr>
          <a:xfrm>
            <a:off x="4754880" y="1719072"/>
            <a:ext cx="137160" cy="137160"/>
          </a:xfrm>
          <a:prstGeom prst="ellipse">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4956048" y="1682496"/>
            <a:ext cx="363931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Modern Datasets</a:t>
            </a:r>
            <a:endParaRPr b="0" i="0" sz="1000" u="none" cap="none" strike="noStrike">
              <a:solidFill>
                <a:schemeClr val="dk1"/>
              </a:solidFill>
              <a:latin typeface="Calibri"/>
              <a:ea typeface="Calibri"/>
              <a:cs typeface="Calibri"/>
              <a:sym typeface="Calibri"/>
            </a:endParaRPr>
          </a:p>
        </p:txBody>
      </p:sp>
      <p:sp>
        <p:nvSpPr>
          <p:cNvPr id="480" name="Google Shape;480;p13"/>
          <p:cNvSpPr/>
          <p:nvPr/>
        </p:nvSpPr>
        <p:spPr>
          <a:xfrm>
            <a:off x="4956048" y="1920240"/>
            <a:ext cx="363931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Extend to CICIDS2017 or UNSW-NB15 to cover contemporary attack types including web attacks, botnet, and Heartbleed.</a:t>
            </a:r>
            <a:endParaRPr b="0" i="0" sz="950" u="none" cap="none" strike="noStrike">
              <a:solidFill>
                <a:schemeClr val="dk1"/>
              </a:solidFill>
              <a:latin typeface="Calibri"/>
              <a:ea typeface="Calibri"/>
              <a:cs typeface="Calibri"/>
              <a:sym typeface="Calibri"/>
            </a:endParaRPr>
          </a:p>
        </p:txBody>
      </p:sp>
      <p:sp>
        <p:nvSpPr>
          <p:cNvPr id="481" name="Google Shape;481;p13"/>
          <p:cNvSpPr/>
          <p:nvPr/>
        </p:nvSpPr>
        <p:spPr>
          <a:xfrm>
            <a:off x="4754880" y="2267712"/>
            <a:ext cx="137160" cy="137160"/>
          </a:xfrm>
          <a:prstGeom prst="ellipse">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4956048" y="2231136"/>
            <a:ext cx="363931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SMOTE Oversampling</a:t>
            </a:r>
            <a:endParaRPr b="0" i="0" sz="1000" u="none" cap="none" strike="noStrike">
              <a:solidFill>
                <a:schemeClr val="dk1"/>
              </a:solidFill>
              <a:latin typeface="Calibri"/>
              <a:ea typeface="Calibri"/>
              <a:cs typeface="Calibri"/>
              <a:sym typeface="Calibri"/>
            </a:endParaRPr>
          </a:p>
        </p:txBody>
      </p:sp>
      <p:sp>
        <p:nvSpPr>
          <p:cNvPr id="483" name="Google Shape;483;p13"/>
          <p:cNvSpPr/>
          <p:nvPr/>
        </p:nvSpPr>
        <p:spPr>
          <a:xfrm>
            <a:off x="4956048" y="2468880"/>
            <a:ext cx="363931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Address U2R and R2L class imbalance using synthetic minority oversampling to improve recall on the rarest attack classes.</a:t>
            </a:r>
            <a:endParaRPr b="0" i="0" sz="950" u="none" cap="none" strike="noStrike">
              <a:solidFill>
                <a:schemeClr val="dk1"/>
              </a:solidFill>
              <a:latin typeface="Calibri"/>
              <a:ea typeface="Calibri"/>
              <a:cs typeface="Calibri"/>
              <a:sym typeface="Calibri"/>
            </a:endParaRPr>
          </a:p>
        </p:txBody>
      </p:sp>
      <p:sp>
        <p:nvSpPr>
          <p:cNvPr id="484" name="Google Shape;484;p13"/>
          <p:cNvSpPr/>
          <p:nvPr/>
        </p:nvSpPr>
        <p:spPr>
          <a:xfrm>
            <a:off x="4754880" y="2816352"/>
            <a:ext cx="137160" cy="137160"/>
          </a:xfrm>
          <a:prstGeom prst="ellipse">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
          <p:cNvSpPr/>
          <p:nvPr/>
        </p:nvSpPr>
        <p:spPr>
          <a:xfrm>
            <a:off x="4956048" y="2779776"/>
            <a:ext cx="363931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Analyst User Study</a:t>
            </a:r>
            <a:endParaRPr b="0" i="0" sz="1000" u="none" cap="none" strike="noStrike">
              <a:solidFill>
                <a:schemeClr val="dk1"/>
              </a:solidFill>
              <a:latin typeface="Calibri"/>
              <a:ea typeface="Calibri"/>
              <a:cs typeface="Calibri"/>
              <a:sym typeface="Calibri"/>
            </a:endParaRPr>
          </a:p>
        </p:txBody>
      </p:sp>
      <p:sp>
        <p:nvSpPr>
          <p:cNvPr id="486" name="Google Shape;486;p13"/>
          <p:cNvSpPr/>
          <p:nvPr/>
        </p:nvSpPr>
        <p:spPr>
          <a:xfrm>
            <a:off x="4956048" y="3017520"/>
            <a:ext cx="363931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Formal study measuring SOC analyst triage time and accuracy with vs without SHAP — providing empirical evidence of operational value.</a:t>
            </a:r>
            <a:endParaRPr b="0" i="0" sz="950" u="none" cap="none" strike="noStrike">
              <a:solidFill>
                <a:schemeClr val="dk1"/>
              </a:solidFill>
              <a:latin typeface="Calibri"/>
              <a:ea typeface="Calibri"/>
              <a:cs typeface="Calibri"/>
              <a:sym typeface="Calibri"/>
            </a:endParaRPr>
          </a:p>
        </p:txBody>
      </p:sp>
      <p:sp>
        <p:nvSpPr>
          <p:cNvPr id="487" name="Google Shape;487;p13"/>
          <p:cNvSpPr/>
          <p:nvPr/>
        </p:nvSpPr>
        <p:spPr>
          <a:xfrm>
            <a:off x="4754880" y="3364992"/>
            <a:ext cx="137160" cy="137160"/>
          </a:xfrm>
          <a:prstGeom prst="ellipse">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3"/>
          <p:cNvSpPr/>
          <p:nvPr/>
        </p:nvSpPr>
        <p:spPr>
          <a:xfrm>
            <a:off x="4956048" y="3328416"/>
            <a:ext cx="363931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Real-Time SHAP</a:t>
            </a:r>
            <a:endParaRPr b="0" i="0" sz="1000" u="none" cap="none" strike="noStrike">
              <a:solidFill>
                <a:schemeClr val="dk1"/>
              </a:solidFill>
              <a:latin typeface="Calibri"/>
              <a:ea typeface="Calibri"/>
              <a:cs typeface="Calibri"/>
              <a:sym typeface="Calibri"/>
            </a:endParaRPr>
          </a:p>
        </p:txBody>
      </p:sp>
      <p:sp>
        <p:nvSpPr>
          <p:cNvPr id="489" name="Google Shape;489;p13"/>
          <p:cNvSpPr/>
          <p:nvPr/>
        </p:nvSpPr>
        <p:spPr>
          <a:xfrm>
            <a:off x="4956048" y="3566160"/>
            <a:ext cx="363931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Optimize TreeSHAP for streaming network traffic where explanations must be generated within milliseconds per connection.</a:t>
            </a:r>
            <a:endParaRPr b="0" i="0" sz="950" u="none" cap="none" strike="noStrike">
              <a:solidFill>
                <a:schemeClr val="dk1"/>
              </a:solidFill>
              <a:latin typeface="Calibri"/>
              <a:ea typeface="Calibri"/>
              <a:cs typeface="Calibri"/>
              <a:sym typeface="Calibri"/>
            </a:endParaRPr>
          </a:p>
        </p:txBody>
      </p:sp>
      <p:sp>
        <p:nvSpPr>
          <p:cNvPr id="490" name="Google Shape;490;p13"/>
          <p:cNvSpPr/>
          <p:nvPr/>
        </p:nvSpPr>
        <p:spPr>
          <a:xfrm>
            <a:off x="4754880" y="3913632"/>
            <a:ext cx="137160" cy="137160"/>
          </a:xfrm>
          <a:prstGeom prst="ellipse">
            <a:avLst/>
          </a:prstGeom>
          <a:solidFill>
            <a:srgbClr val="22C55E"/>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4956048" y="3877056"/>
            <a:ext cx="3639312"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1628"/>
              </a:buClr>
              <a:buSzPts val="1000"/>
              <a:buFont typeface="Calibri"/>
              <a:buNone/>
            </a:pPr>
            <a:r>
              <a:rPr b="1" i="0" lang="en-US" sz="1000" u="none" cap="none" strike="noStrike">
                <a:solidFill>
                  <a:srgbClr val="0A1628"/>
                </a:solidFill>
                <a:latin typeface="Calibri"/>
                <a:ea typeface="Calibri"/>
                <a:cs typeface="Calibri"/>
                <a:sym typeface="Calibri"/>
              </a:rPr>
              <a:t>LLM-Based Explanations</a:t>
            </a:r>
            <a:endParaRPr b="0" i="0" sz="1000" u="none" cap="none" strike="noStrike">
              <a:solidFill>
                <a:schemeClr val="dk1"/>
              </a:solidFill>
              <a:latin typeface="Calibri"/>
              <a:ea typeface="Calibri"/>
              <a:cs typeface="Calibri"/>
              <a:sym typeface="Calibri"/>
            </a:endParaRPr>
          </a:p>
        </p:txBody>
      </p:sp>
      <p:sp>
        <p:nvSpPr>
          <p:cNvPr id="492" name="Google Shape;492;p13"/>
          <p:cNvSpPr/>
          <p:nvPr/>
        </p:nvSpPr>
        <p:spPr>
          <a:xfrm>
            <a:off x="4956048" y="4114800"/>
            <a:ext cx="3639312"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0" i="0" lang="en-US" sz="950" u="none" cap="none" strike="noStrike">
                <a:solidFill>
                  <a:srgbClr val="334155"/>
                </a:solidFill>
                <a:latin typeface="Calibri"/>
                <a:ea typeface="Calibri"/>
                <a:cs typeface="Calibri"/>
                <a:sym typeface="Calibri"/>
              </a:rPr>
              <a:t>Generate natural language summaries of SHAP results using LLMs — an emerging 2024–2025 research direction in XAI.</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497" name="Shape 497"/>
        <p:cNvGrpSpPr/>
        <p:nvPr/>
      </p:nvGrpSpPr>
      <p:grpSpPr>
        <a:xfrm>
          <a:off x="0" y="0"/>
          <a:ext cx="0" cy="0"/>
          <a:chOff x="0" y="0"/>
          <a:chExt cx="0" cy="0"/>
        </a:xfrm>
      </p:grpSpPr>
      <p:sp>
        <p:nvSpPr>
          <p:cNvPr id="498" name="Google Shape;498;p14"/>
          <p:cNvSpPr/>
          <p:nvPr/>
        </p:nvSpPr>
        <p:spPr>
          <a:xfrm>
            <a:off x="0" y="0"/>
            <a:ext cx="201168" cy="5143500"/>
          </a:xfrm>
          <a:prstGeom prst="rect">
            <a:avLst/>
          </a:prstGeom>
          <a:solidFill>
            <a:srgbClr val="00C2D4"/>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411480" y="914400"/>
            <a:ext cx="8339328" cy="868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Thank You</a:t>
            </a:r>
            <a:endParaRPr b="0" i="0" sz="4600" u="none" cap="none" strike="noStrike">
              <a:solidFill>
                <a:schemeClr val="dk1"/>
              </a:solidFill>
              <a:latin typeface="Calibri"/>
              <a:ea typeface="Calibri"/>
              <a:cs typeface="Calibri"/>
              <a:sym typeface="Calibri"/>
            </a:endParaRPr>
          </a:p>
        </p:txBody>
      </p:sp>
      <p:sp>
        <p:nvSpPr>
          <p:cNvPr id="500" name="Google Shape;500;p14"/>
          <p:cNvSpPr/>
          <p:nvPr/>
        </p:nvSpPr>
        <p:spPr>
          <a:xfrm>
            <a:off x="411480" y="1874520"/>
            <a:ext cx="833932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1300"/>
              <a:buFont typeface="Calibri"/>
              <a:buNone/>
            </a:pPr>
            <a:r>
              <a:rPr b="0" i="1" lang="en-US" sz="1300" u="none" cap="none" strike="noStrike">
                <a:solidFill>
                  <a:srgbClr val="00C2D4"/>
                </a:solidFill>
                <a:latin typeface="Calibri"/>
                <a:ea typeface="Calibri"/>
                <a:cs typeface="Calibri"/>
                <a:sym typeface="Calibri"/>
              </a:rPr>
              <a:t>Explainable Intrusion Detection System Using Machine Learning: A SHAP-Based Approach</a:t>
            </a:r>
            <a:endParaRPr b="0" i="0" sz="1300" u="none" cap="none" strike="noStrike">
              <a:solidFill>
                <a:schemeClr val="dk1"/>
              </a:solidFill>
              <a:latin typeface="Calibri"/>
              <a:ea typeface="Calibri"/>
              <a:cs typeface="Calibri"/>
              <a:sym typeface="Calibri"/>
            </a:endParaRPr>
          </a:p>
        </p:txBody>
      </p:sp>
      <p:sp>
        <p:nvSpPr>
          <p:cNvPr id="501" name="Google Shape;501;p14"/>
          <p:cNvSpPr/>
          <p:nvPr/>
        </p:nvSpPr>
        <p:spPr>
          <a:xfrm>
            <a:off x="566928" y="2450592"/>
            <a:ext cx="1417320" cy="804672"/>
          </a:xfrm>
          <a:prstGeom prst="rect">
            <a:avLst/>
          </a:prstGeom>
          <a:solidFill>
            <a:srgbClr val="132038"/>
          </a:solidFill>
          <a:ln cap="flat" cmpd="sng" w="12700">
            <a:solidFill>
              <a:srgbClr val="00C2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566928" y="2487168"/>
            <a:ext cx="14173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D4"/>
              </a:buClr>
              <a:buSzPts val="1100"/>
              <a:buFont typeface="Calibri"/>
              <a:buNone/>
            </a:pPr>
            <a:r>
              <a:rPr b="1" i="0" lang="en-US" sz="1100" u="none" cap="none" strike="noStrike">
                <a:solidFill>
                  <a:srgbClr val="00C2D4"/>
                </a:solidFill>
                <a:latin typeface="Calibri"/>
                <a:ea typeface="Calibri"/>
                <a:cs typeface="Calibri"/>
                <a:sym typeface="Calibri"/>
              </a:rPr>
              <a:t>NSL-KDD</a:t>
            </a:r>
            <a:endParaRPr b="0" i="0" sz="1100" u="none" cap="none" strike="noStrike">
              <a:solidFill>
                <a:schemeClr val="dk1"/>
              </a:solidFill>
              <a:latin typeface="Calibri"/>
              <a:ea typeface="Calibri"/>
              <a:cs typeface="Calibri"/>
              <a:sym typeface="Calibri"/>
            </a:endParaRPr>
          </a:p>
        </p:txBody>
      </p:sp>
      <p:sp>
        <p:nvSpPr>
          <p:cNvPr id="503" name="Google Shape;503;p14"/>
          <p:cNvSpPr/>
          <p:nvPr/>
        </p:nvSpPr>
        <p:spPr>
          <a:xfrm>
            <a:off x="566928" y="2871216"/>
            <a:ext cx="141732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Dataset</a:t>
            </a:r>
            <a:endParaRPr b="0" i="0" sz="850" u="none" cap="none" strike="noStrike">
              <a:solidFill>
                <a:schemeClr val="dk1"/>
              </a:solidFill>
              <a:latin typeface="Calibri"/>
              <a:ea typeface="Calibri"/>
              <a:cs typeface="Calibri"/>
              <a:sym typeface="Calibri"/>
            </a:endParaRPr>
          </a:p>
        </p:txBody>
      </p:sp>
      <p:sp>
        <p:nvSpPr>
          <p:cNvPr id="504" name="Google Shape;504;p14"/>
          <p:cNvSpPr/>
          <p:nvPr/>
        </p:nvSpPr>
        <p:spPr>
          <a:xfrm>
            <a:off x="2185416" y="2450592"/>
            <a:ext cx="1417320" cy="804672"/>
          </a:xfrm>
          <a:prstGeom prst="rect">
            <a:avLst/>
          </a:prstGeom>
          <a:solidFill>
            <a:srgbClr val="132038"/>
          </a:solidFill>
          <a:ln cap="flat" cmpd="sng" w="12700">
            <a:solidFill>
              <a:srgbClr val="22C5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4"/>
          <p:cNvSpPr/>
          <p:nvPr/>
        </p:nvSpPr>
        <p:spPr>
          <a:xfrm>
            <a:off x="2185416" y="2487168"/>
            <a:ext cx="14173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C55E"/>
              </a:buClr>
              <a:buSzPts val="1100"/>
              <a:buFont typeface="Calibri"/>
              <a:buNone/>
            </a:pPr>
            <a:r>
              <a:rPr b="1" i="0" lang="en-US" sz="1100" u="none" cap="none" strike="noStrike">
                <a:solidFill>
                  <a:srgbClr val="22C55E"/>
                </a:solidFill>
                <a:latin typeface="Calibri"/>
                <a:ea typeface="Calibri"/>
                <a:cs typeface="Calibri"/>
                <a:sym typeface="Calibri"/>
              </a:rPr>
              <a:t>DT · RF · XGB</a:t>
            </a:r>
            <a:endParaRPr b="0" i="0" sz="1100" u="none" cap="none" strike="noStrike">
              <a:solidFill>
                <a:schemeClr val="dk1"/>
              </a:solidFill>
              <a:latin typeface="Calibri"/>
              <a:ea typeface="Calibri"/>
              <a:cs typeface="Calibri"/>
              <a:sym typeface="Calibri"/>
            </a:endParaRPr>
          </a:p>
        </p:txBody>
      </p:sp>
      <p:sp>
        <p:nvSpPr>
          <p:cNvPr id="506" name="Google Shape;506;p14"/>
          <p:cNvSpPr/>
          <p:nvPr/>
        </p:nvSpPr>
        <p:spPr>
          <a:xfrm>
            <a:off x="2185416" y="2871216"/>
            <a:ext cx="141732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Models</a:t>
            </a:r>
            <a:endParaRPr b="0" i="0" sz="850" u="none" cap="none" strike="noStrike">
              <a:solidFill>
                <a:schemeClr val="dk1"/>
              </a:solidFill>
              <a:latin typeface="Calibri"/>
              <a:ea typeface="Calibri"/>
              <a:cs typeface="Calibri"/>
              <a:sym typeface="Calibri"/>
            </a:endParaRPr>
          </a:p>
        </p:txBody>
      </p:sp>
      <p:sp>
        <p:nvSpPr>
          <p:cNvPr id="507" name="Google Shape;507;p14"/>
          <p:cNvSpPr/>
          <p:nvPr/>
        </p:nvSpPr>
        <p:spPr>
          <a:xfrm>
            <a:off x="3803904" y="2450592"/>
            <a:ext cx="1417320" cy="804672"/>
          </a:xfrm>
          <a:prstGeom prst="rect">
            <a:avLst/>
          </a:prstGeom>
          <a:solidFill>
            <a:srgbClr val="132038"/>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3803904" y="2487168"/>
            <a:ext cx="14173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SHAP + LIME</a:t>
            </a:r>
            <a:endParaRPr b="0" i="0" sz="1100" u="none" cap="none" strike="noStrike">
              <a:solidFill>
                <a:schemeClr val="dk1"/>
              </a:solidFill>
              <a:latin typeface="Calibri"/>
              <a:ea typeface="Calibri"/>
              <a:cs typeface="Calibri"/>
              <a:sym typeface="Calibri"/>
            </a:endParaRPr>
          </a:p>
        </p:txBody>
      </p:sp>
      <p:sp>
        <p:nvSpPr>
          <p:cNvPr id="509" name="Google Shape;509;p14"/>
          <p:cNvSpPr/>
          <p:nvPr/>
        </p:nvSpPr>
        <p:spPr>
          <a:xfrm>
            <a:off x="3803904" y="2871216"/>
            <a:ext cx="141732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XAI</a:t>
            </a:r>
            <a:endParaRPr b="0" i="0" sz="850" u="none" cap="none" strike="noStrike">
              <a:solidFill>
                <a:schemeClr val="dk1"/>
              </a:solidFill>
              <a:latin typeface="Calibri"/>
              <a:ea typeface="Calibri"/>
              <a:cs typeface="Calibri"/>
              <a:sym typeface="Calibri"/>
            </a:endParaRPr>
          </a:p>
        </p:txBody>
      </p:sp>
      <p:sp>
        <p:nvSpPr>
          <p:cNvPr id="510" name="Google Shape;510;p14"/>
          <p:cNvSpPr/>
          <p:nvPr/>
        </p:nvSpPr>
        <p:spPr>
          <a:xfrm>
            <a:off x="5422392" y="2450592"/>
            <a:ext cx="1417320" cy="804672"/>
          </a:xfrm>
          <a:prstGeom prst="rect">
            <a:avLst/>
          </a:prstGeom>
          <a:solidFill>
            <a:srgbClr val="132038"/>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4"/>
          <p:cNvSpPr/>
          <p:nvPr/>
        </p:nvSpPr>
        <p:spPr>
          <a:xfrm>
            <a:off x="5422392" y="2487168"/>
            <a:ext cx="14173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2009 – 2025</a:t>
            </a:r>
            <a:endParaRPr b="0" i="0" sz="1100" u="none" cap="none" strike="noStrike">
              <a:solidFill>
                <a:schemeClr val="dk1"/>
              </a:solidFill>
              <a:latin typeface="Calibri"/>
              <a:ea typeface="Calibri"/>
              <a:cs typeface="Calibri"/>
              <a:sym typeface="Calibri"/>
            </a:endParaRPr>
          </a:p>
        </p:txBody>
      </p:sp>
      <p:sp>
        <p:nvSpPr>
          <p:cNvPr id="512" name="Google Shape;512;p14"/>
          <p:cNvSpPr/>
          <p:nvPr/>
        </p:nvSpPr>
        <p:spPr>
          <a:xfrm>
            <a:off x="5422392" y="2871216"/>
            <a:ext cx="141732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Papers</a:t>
            </a:r>
            <a:endParaRPr b="0" i="0" sz="850" u="none" cap="none" strike="noStrike">
              <a:solidFill>
                <a:schemeClr val="dk1"/>
              </a:solidFill>
              <a:latin typeface="Calibri"/>
              <a:ea typeface="Calibri"/>
              <a:cs typeface="Calibri"/>
              <a:sym typeface="Calibri"/>
            </a:endParaRPr>
          </a:p>
        </p:txBody>
      </p:sp>
      <p:sp>
        <p:nvSpPr>
          <p:cNvPr id="513" name="Google Shape;513;p14"/>
          <p:cNvSpPr/>
          <p:nvPr/>
        </p:nvSpPr>
        <p:spPr>
          <a:xfrm>
            <a:off x="7040880" y="2450592"/>
            <a:ext cx="1417320" cy="804672"/>
          </a:xfrm>
          <a:prstGeom prst="rect">
            <a:avLst/>
          </a:prstGeom>
          <a:solidFill>
            <a:srgbClr val="132038"/>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7040880" y="2487168"/>
            <a:ext cx="14173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55F7"/>
              </a:buClr>
              <a:buSzPts val="1100"/>
              <a:buFont typeface="Calibri"/>
              <a:buNone/>
            </a:pPr>
            <a:r>
              <a:rPr b="1" i="0" lang="en-US" sz="1100" u="none" cap="none" strike="noStrike">
                <a:solidFill>
                  <a:srgbClr val="A855F7"/>
                </a:solidFill>
                <a:latin typeface="Calibri"/>
                <a:ea typeface="Calibri"/>
                <a:cs typeface="Calibri"/>
                <a:sym typeface="Calibri"/>
              </a:rPr>
              <a:t>5 Attack Types</a:t>
            </a:r>
            <a:endParaRPr b="0" i="0" sz="1100" u="none" cap="none" strike="noStrike">
              <a:solidFill>
                <a:schemeClr val="dk1"/>
              </a:solidFill>
              <a:latin typeface="Calibri"/>
              <a:ea typeface="Calibri"/>
              <a:cs typeface="Calibri"/>
              <a:sym typeface="Calibri"/>
            </a:endParaRPr>
          </a:p>
        </p:txBody>
      </p:sp>
      <p:sp>
        <p:nvSpPr>
          <p:cNvPr id="515" name="Google Shape;515;p14"/>
          <p:cNvSpPr/>
          <p:nvPr/>
        </p:nvSpPr>
        <p:spPr>
          <a:xfrm>
            <a:off x="7040880" y="2871216"/>
            <a:ext cx="1417320" cy="2468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Classes</a:t>
            </a:r>
            <a:endParaRPr b="0" i="0" sz="850" u="none" cap="none" strike="noStrike">
              <a:solidFill>
                <a:schemeClr val="dk1"/>
              </a:solidFill>
              <a:latin typeface="Calibri"/>
              <a:ea typeface="Calibri"/>
              <a:cs typeface="Calibri"/>
              <a:sym typeface="Calibri"/>
            </a:endParaRPr>
          </a:p>
        </p:txBody>
      </p:sp>
      <p:sp>
        <p:nvSpPr>
          <p:cNvPr id="516" name="Google Shape;516;p14"/>
          <p:cNvSpPr/>
          <p:nvPr/>
        </p:nvSpPr>
        <p:spPr>
          <a:xfrm>
            <a:off x="411480" y="3401568"/>
            <a:ext cx="8339328"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Questions Welcome</a:t>
            </a:r>
            <a:endParaRPr b="0" i="0" sz="1600" u="none" cap="none" strike="noStrike">
              <a:solidFill>
                <a:schemeClr val="dk1"/>
              </a:solidFill>
              <a:latin typeface="Calibri"/>
              <a:ea typeface="Calibri"/>
              <a:cs typeface="Calibri"/>
              <a:sym typeface="Calibri"/>
            </a:endParaRPr>
          </a:p>
        </p:txBody>
      </p:sp>
      <p:sp>
        <p:nvSpPr>
          <p:cNvPr id="517" name="Google Shape;517;p14"/>
          <p:cNvSpPr/>
          <p:nvPr/>
        </p:nvSpPr>
        <p:spPr>
          <a:xfrm>
            <a:off x="0" y="4645152"/>
            <a:ext cx="9144000" cy="498348"/>
          </a:xfrm>
          <a:prstGeom prst="rect">
            <a:avLst/>
          </a:prstGeom>
          <a:solidFill>
            <a:srgbClr val="132038"/>
          </a:solidFill>
          <a:ln cap="flat" cmpd="sng" w="12700">
            <a:solidFill>
              <a:srgbClr val="13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4"/>
          <p:cNvSpPr/>
          <p:nvPr/>
        </p:nvSpPr>
        <p:spPr>
          <a:xfrm>
            <a:off x="320040" y="4645152"/>
            <a:ext cx="8686800" cy="4983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8B8"/>
              </a:buClr>
              <a:buSzPts val="850"/>
              <a:buFont typeface="Calibri"/>
              <a:buNone/>
            </a:pPr>
            <a:r>
              <a:rPr b="0" i="0" lang="en-US" sz="850" u="none" cap="none" strike="noStrike">
                <a:solidFill>
                  <a:srgbClr val="8FA8B8"/>
                </a:solidFill>
                <a:latin typeface="Calibri"/>
                <a:ea typeface="Calibri"/>
                <a:cs typeface="Calibri"/>
                <a:sym typeface="Calibri"/>
              </a:rPr>
              <a:t>References: Tavallaee et al. 2009  ·  Lundberg &amp; Lee NeurIPS 2017  ·  Gaspar et al. IEEE Access 2024  ·  Arreche et al. IEEE Access 2024  </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2026-05-16T16:55:09Z</dcterms:created>
  <dc:creator>PptxGenJS</dc:creator>
</cp:coreProperties>
</file>